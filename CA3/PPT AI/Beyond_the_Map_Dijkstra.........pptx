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</a:rPr>
              <a:t>BEYOND THE MAP  |  DIJKSTRA'S ALGORITHM  |  DAA CA-3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" y="1634639"/>
            <a:ext cx="4797522" cy="1952659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1074" y="1494316"/>
            <a:ext cx="5550374" cy="3111279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515" y="1030060"/>
            <a:ext cx="4456869" cy="3786293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7237" y="1390960"/>
            <a:ext cx="5808554" cy="4096609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49001" y="309726"/>
            <a:ext cx="4453392" cy="3845778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0"/>
            <a:ext cx="126661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50876"/>
            <a:ext cx="12161520" cy="149504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76684" y="0"/>
            <a:ext cx="29156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0" y="0"/>
            <a:ext cx="12161520" cy="331927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290908" y="0"/>
            <a:ext cx="263572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12978"/>
            <a:ext cx="12161520" cy="812581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433249" y="0"/>
            <a:ext cx="669871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0" y="0"/>
            <a:ext cx="12161520" cy="694030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0"/>
            <a:ext cx="104232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75081"/>
            <a:ext cx="12161520" cy="584566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533157" y="0"/>
            <a:ext cx="667243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0" y="738410"/>
            <a:ext cx="12161520" cy="317722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0"/>
            <a:ext cx="530786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237183"/>
            <a:ext cx="12161520" cy="60651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744789" y="0"/>
            <a:ext cx="552891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418234"/>
            <a:ext cx="12161520" cy="303333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0"/>
            <a:ext cx="629598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0" y="1106923"/>
            <a:ext cx="12161520" cy="492362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0"/>
            <a:ext cx="550576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0" y="460104"/>
            <a:ext cx="12161520" cy="1320233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0"/>
            <a:ext cx="298224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961388"/>
            <a:ext cx="12161520" cy="845051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0"/>
            <a:ext cx="616211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0" y="1557902"/>
            <a:ext cx="12161520" cy="584537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583732" y="0"/>
            <a:ext cx="457148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23490"/>
            <a:ext cx="12161520" cy="821711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0"/>
            <a:ext cx="614452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504542"/>
            <a:ext cx="12161520" cy="635815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0"/>
            <a:ext cx="685539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685593"/>
            <a:ext cx="12161520" cy="824401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8592767" y="0"/>
            <a:ext cx="94033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0" y="2194696"/>
            <a:ext cx="12161520" cy="671948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35440" y="0"/>
            <a:ext cx="158446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0" y="1741864"/>
            <a:ext cx="12161520" cy="1305831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0"/>
            <a:ext cx="619846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28746"/>
            <a:ext cx="12161520" cy="909588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10129300" y="0"/>
            <a:ext cx="203420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409798"/>
            <a:ext cx="12161520" cy="1026558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197328" y="0"/>
            <a:ext cx="684032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3590849"/>
            <a:ext cx="12161520" cy="455941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30000" y="0"/>
            <a:ext cx="618844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3771900"/>
            <a:ext cx="12161520" cy="136479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978640" y="0"/>
            <a:ext cx="182880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3952951"/>
            <a:ext cx="12161520" cy="25683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60492" y="2776306"/>
            <a:ext cx="2008538" cy="1138569"/>
          </a:xfrm>
          <a:prstGeom prst="line">
            <a:avLst/>
          </a:prstGeom>
          <a:noFill/>
          <a:ln w="3296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369030" y="3914875"/>
            <a:ext cx="401352" cy="711494"/>
          </a:xfrm>
          <a:prstGeom prst="line">
            <a:avLst/>
          </a:prstGeom>
          <a:noFill/>
          <a:ln w="3296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1770382" y="3999008"/>
            <a:ext cx="208258" cy="627362"/>
          </a:xfrm>
          <a:prstGeom prst="line">
            <a:avLst/>
          </a:prstGeom>
          <a:noFill/>
          <a:ln w="3296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60492" y="2776306"/>
            <a:ext cx="2008538" cy="1138569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369030" y="3914875"/>
            <a:ext cx="401352" cy="711494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1770382" y="3999008"/>
            <a:ext cx="208258" cy="627362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880" y="4953760"/>
            <a:ext cx="387616" cy="341118"/>
          </a:xfrm>
          <a:prstGeom prst="line">
            <a:avLst/>
          </a:prstGeom>
          <a:noFill/>
          <a:ln w="4137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182880" y="4671798"/>
            <a:ext cx="803057" cy="281962"/>
          </a:xfrm>
          <a:prstGeom prst="line">
            <a:avLst/>
          </a:prstGeom>
          <a:noFill/>
          <a:ln w="4137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985937" y="3771092"/>
            <a:ext cx="551269" cy="900706"/>
          </a:xfrm>
          <a:prstGeom prst="line">
            <a:avLst/>
          </a:prstGeom>
          <a:noFill/>
          <a:ln w="4137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2880" y="4953760"/>
            <a:ext cx="387616" cy="341118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82880" y="4671798"/>
            <a:ext cx="803057" cy="281962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985937" y="3771092"/>
            <a:ext cx="551269" cy="900706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15244" y="3667712"/>
            <a:ext cx="802399" cy="971499"/>
          </a:xfrm>
          <a:prstGeom prst="line">
            <a:avLst/>
          </a:prstGeom>
          <a:noFill/>
          <a:ln w="4610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2072666" y="4639210"/>
            <a:ext cx="644978" cy="1096210"/>
          </a:xfrm>
          <a:prstGeom prst="line">
            <a:avLst/>
          </a:prstGeom>
          <a:noFill/>
          <a:ln w="4610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072666" y="5735421"/>
            <a:ext cx="2221195" cy="627037"/>
          </a:xfrm>
          <a:prstGeom prst="line">
            <a:avLst/>
          </a:prstGeom>
          <a:noFill/>
          <a:ln w="4610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15244" y="3667712"/>
            <a:ext cx="802399" cy="971499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2072666" y="4639210"/>
            <a:ext cx="644978" cy="109621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72666" y="5735421"/>
            <a:ext cx="2221195" cy="627037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054890" y="5512162"/>
            <a:ext cx="1107373" cy="5142"/>
          </a:xfrm>
          <a:prstGeom prst="line">
            <a:avLst/>
          </a:prstGeom>
          <a:noFill/>
          <a:ln w="46211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62263" y="5517305"/>
            <a:ext cx="18553" cy="75183"/>
          </a:xfrm>
          <a:prstGeom prst="line">
            <a:avLst/>
          </a:prstGeom>
          <a:noFill/>
          <a:ln w="46211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5041973" y="5592488"/>
            <a:ext cx="138843" cy="991192"/>
          </a:xfrm>
          <a:prstGeom prst="line">
            <a:avLst/>
          </a:prstGeom>
          <a:noFill/>
          <a:ln w="46211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54890" y="5512162"/>
            <a:ext cx="1107373" cy="5142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162263" y="5517305"/>
            <a:ext cx="18553" cy="75183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5041973" y="5592488"/>
            <a:ext cx="138843" cy="991192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9538839" y="941500"/>
            <a:ext cx="450181" cy="1055228"/>
          </a:xfrm>
          <a:prstGeom prst="line">
            <a:avLst/>
          </a:prstGeom>
          <a:noFill/>
          <a:ln w="5407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9538839" y="1512561"/>
            <a:ext cx="1251100" cy="484168"/>
          </a:xfrm>
          <a:prstGeom prst="line">
            <a:avLst/>
          </a:prstGeom>
          <a:noFill/>
          <a:ln w="5407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10789938" y="1200730"/>
            <a:ext cx="1188702" cy="311830"/>
          </a:xfrm>
          <a:prstGeom prst="line">
            <a:avLst/>
          </a:prstGeom>
          <a:noFill/>
          <a:ln w="5407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9538839" y="941500"/>
            <a:ext cx="450181" cy="1055228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9538839" y="1512561"/>
            <a:ext cx="1251100" cy="484168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10789938" y="1200730"/>
            <a:ext cx="1188702" cy="31183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82823" y="2344370"/>
            <a:ext cx="220126" cy="913435"/>
          </a:xfrm>
          <a:prstGeom prst="line">
            <a:avLst/>
          </a:prstGeom>
          <a:noFill/>
          <a:ln w="40393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82823" y="2344370"/>
            <a:ext cx="1594159" cy="853460"/>
          </a:xfrm>
          <a:prstGeom prst="line">
            <a:avLst/>
          </a:prstGeom>
          <a:noFill/>
          <a:ln w="40393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6556761" y="3197830"/>
            <a:ext cx="120221" cy="588514"/>
          </a:xfrm>
          <a:prstGeom prst="line">
            <a:avLst/>
          </a:prstGeom>
          <a:noFill/>
          <a:ln w="40393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82823" y="2344370"/>
            <a:ext cx="220126" cy="913435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082823" y="2344370"/>
            <a:ext cx="1594159" cy="853460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6556761" y="3197830"/>
            <a:ext cx="120221" cy="588514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499205" y="1686221"/>
            <a:ext cx="957260" cy="1096206"/>
          </a:xfrm>
          <a:prstGeom prst="line">
            <a:avLst/>
          </a:prstGeom>
          <a:noFill/>
          <a:ln w="39799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7644684" y="1686221"/>
            <a:ext cx="854521" cy="130818"/>
          </a:xfrm>
          <a:prstGeom prst="line">
            <a:avLst/>
          </a:prstGeom>
          <a:noFill/>
          <a:ln w="39799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7630728" y="1817039"/>
            <a:ext cx="13956" cy="704123"/>
          </a:xfrm>
          <a:prstGeom prst="line">
            <a:avLst/>
          </a:prstGeom>
          <a:noFill/>
          <a:ln w="39799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499205" y="1686221"/>
            <a:ext cx="957260" cy="1096206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7644684" y="1686221"/>
            <a:ext cx="854521" cy="130818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7630728" y="1817039"/>
            <a:ext cx="13956" cy="704123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011826" y="6335864"/>
            <a:ext cx="617469" cy="247816"/>
          </a:xfrm>
          <a:prstGeom prst="line">
            <a:avLst/>
          </a:prstGeom>
          <a:noFill/>
          <a:ln w="38480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221710" y="6583680"/>
            <a:ext cx="407585" cy="0"/>
          </a:xfrm>
          <a:prstGeom prst="line">
            <a:avLst/>
          </a:prstGeom>
          <a:noFill/>
          <a:ln w="38480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7221710" y="5998377"/>
            <a:ext cx="623465" cy="585303"/>
          </a:xfrm>
          <a:prstGeom prst="line">
            <a:avLst/>
          </a:prstGeom>
          <a:noFill/>
          <a:ln w="38480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11826" y="6335864"/>
            <a:ext cx="617469" cy="247816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21710" y="6583680"/>
            <a:ext cx="407585" cy="0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7221710" y="5998377"/>
            <a:ext cx="623465" cy="585303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5455142" y="3532667"/>
            <a:ext cx="509033" cy="454154"/>
          </a:xfrm>
          <a:prstGeom prst="line">
            <a:avLst/>
          </a:prstGeom>
          <a:noFill/>
          <a:ln w="5248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964175" y="3532667"/>
            <a:ext cx="611900" cy="21710"/>
          </a:xfrm>
          <a:prstGeom prst="line">
            <a:avLst/>
          </a:prstGeom>
          <a:noFill/>
          <a:ln w="5248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5992346" y="3554378"/>
            <a:ext cx="583729" cy="296419"/>
          </a:xfrm>
          <a:prstGeom prst="line">
            <a:avLst/>
          </a:prstGeom>
          <a:noFill/>
          <a:ln w="5248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5455142" y="3532667"/>
            <a:ext cx="509033" cy="454154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64175" y="3532667"/>
            <a:ext cx="611900" cy="2171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5992346" y="3554378"/>
            <a:ext cx="583729" cy="296419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5171666" y="3584560"/>
            <a:ext cx="275601" cy="624971"/>
          </a:xfrm>
          <a:prstGeom prst="line">
            <a:avLst/>
          </a:prstGeom>
          <a:noFill/>
          <a:ln w="36762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5171666" y="3305042"/>
            <a:ext cx="235742" cy="904488"/>
          </a:xfrm>
          <a:prstGeom prst="line">
            <a:avLst/>
          </a:prstGeom>
          <a:noFill/>
          <a:ln w="36762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5407408" y="3045213"/>
            <a:ext cx="870658" cy="259829"/>
          </a:xfrm>
          <a:prstGeom prst="line">
            <a:avLst/>
          </a:prstGeom>
          <a:noFill/>
          <a:ln w="36762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5171666" y="3584560"/>
            <a:ext cx="275601" cy="624971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5171666" y="3305042"/>
            <a:ext cx="235742" cy="904488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5407408" y="3045213"/>
            <a:ext cx="870658" cy="259829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5615291" y="5132713"/>
            <a:ext cx="300306" cy="768573"/>
          </a:xfrm>
          <a:prstGeom prst="line">
            <a:avLst/>
          </a:prstGeom>
          <a:noFill/>
          <a:ln w="38924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15597" y="5132713"/>
            <a:ext cx="1721733" cy="763074"/>
          </a:xfrm>
          <a:prstGeom prst="line">
            <a:avLst/>
          </a:prstGeom>
          <a:noFill/>
          <a:ln w="38924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7637329" y="5303140"/>
            <a:ext cx="1364200" cy="592646"/>
          </a:xfrm>
          <a:prstGeom prst="line">
            <a:avLst/>
          </a:prstGeom>
          <a:noFill/>
          <a:ln w="38924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5615291" y="5132713"/>
            <a:ext cx="300306" cy="768573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915597" y="5132713"/>
            <a:ext cx="1721733" cy="763074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7637329" y="5303140"/>
            <a:ext cx="1364200" cy="592646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586878" y="1997862"/>
            <a:ext cx="1979155" cy="437704"/>
          </a:xfrm>
          <a:prstGeom prst="line">
            <a:avLst/>
          </a:prstGeom>
          <a:noFill/>
          <a:ln w="50600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4566033" y="2258069"/>
            <a:ext cx="839245" cy="177497"/>
          </a:xfrm>
          <a:prstGeom prst="line">
            <a:avLst/>
          </a:prstGeom>
          <a:noFill/>
          <a:ln w="50600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5405278" y="2127936"/>
            <a:ext cx="683104" cy="130133"/>
          </a:xfrm>
          <a:prstGeom prst="line">
            <a:avLst/>
          </a:prstGeom>
          <a:noFill/>
          <a:ln w="50600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586878" y="1997862"/>
            <a:ext cx="1979155" cy="437704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4566033" y="2258069"/>
            <a:ext cx="839245" cy="177497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5405278" y="2127936"/>
            <a:ext cx="683104" cy="130133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152631" y="3919221"/>
            <a:ext cx="1541630" cy="1100185"/>
          </a:xfrm>
          <a:prstGeom prst="line">
            <a:avLst/>
          </a:prstGeom>
          <a:noFill/>
          <a:ln w="5320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1694261" y="3887681"/>
            <a:ext cx="1547813" cy="31540"/>
          </a:xfrm>
          <a:prstGeom prst="line">
            <a:avLst/>
          </a:prstGeom>
          <a:noFill/>
          <a:ln w="5320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3242074" y="2763838"/>
            <a:ext cx="1007117" cy="1123843"/>
          </a:xfrm>
          <a:prstGeom prst="line">
            <a:avLst/>
          </a:prstGeom>
          <a:noFill/>
          <a:ln w="5320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152631" y="3919221"/>
            <a:ext cx="1541630" cy="1100185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1694261" y="3887681"/>
            <a:ext cx="1547813" cy="3154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3242074" y="2763838"/>
            <a:ext cx="1007117" cy="1123843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536711" y="4991709"/>
            <a:ext cx="165082" cy="758708"/>
          </a:xfrm>
          <a:prstGeom prst="line">
            <a:avLst/>
          </a:prstGeom>
          <a:noFill/>
          <a:ln w="43674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10536711" y="4935739"/>
            <a:ext cx="216770" cy="55970"/>
          </a:xfrm>
          <a:prstGeom prst="line">
            <a:avLst/>
          </a:prstGeom>
          <a:noFill/>
          <a:ln w="43674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753481" y="4935739"/>
            <a:ext cx="1225159" cy="574658"/>
          </a:xfrm>
          <a:prstGeom prst="line">
            <a:avLst/>
          </a:prstGeom>
          <a:noFill/>
          <a:ln w="43674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536711" y="4991709"/>
            <a:ext cx="165082" cy="758708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536711" y="4935739"/>
            <a:ext cx="216770" cy="55970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753481" y="4935739"/>
            <a:ext cx="1225159" cy="574658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017740" y="3619746"/>
            <a:ext cx="973981" cy="1127401"/>
          </a:xfrm>
          <a:prstGeom prst="line">
            <a:avLst/>
          </a:prstGeom>
          <a:noFill/>
          <a:ln w="52899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2991721" y="3797759"/>
            <a:ext cx="45698" cy="949388"/>
          </a:xfrm>
          <a:prstGeom prst="line">
            <a:avLst/>
          </a:prstGeom>
          <a:noFill/>
          <a:ln w="52899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037419" y="3797759"/>
            <a:ext cx="528200" cy="1051847"/>
          </a:xfrm>
          <a:prstGeom prst="line">
            <a:avLst/>
          </a:prstGeom>
          <a:noFill/>
          <a:ln w="52899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017740" y="3619746"/>
            <a:ext cx="973981" cy="1127401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2991721" y="3797759"/>
            <a:ext cx="45698" cy="949388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037419" y="3797759"/>
            <a:ext cx="528200" cy="1051847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86434" y="3704719"/>
            <a:ext cx="1357844" cy="819761"/>
          </a:xfrm>
          <a:prstGeom prst="line">
            <a:avLst/>
          </a:prstGeom>
          <a:noFill/>
          <a:ln w="48483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flipV="1">
            <a:off x="2144278" y="4213507"/>
            <a:ext cx="635484" cy="310973"/>
          </a:xfrm>
          <a:prstGeom prst="line">
            <a:avLst/>
          </a:prstGeom>
          <a:noFill/>
          <a:ln w="48483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2403645" y="4213507"/>
            <a:ext cx="376117" cy="941108"/>
          </a:xfrm>
          <a:prstGeom prst="line">
            <a:avLst/>
          </a:prstGeom>
          <a:noFill/>
          <a:ln w="48483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86434" y="3704719"/>
            <a:ext cx="1357844" cy="819761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2144278" y="4213507"/>
            <a:ext cx="635484" cy="310973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2403645" y="4213507"/>
            <a:ext cx="376117" cy="941108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635502" y="3723362"/>
            <a:ext cx="54864" cy="54864"/>
          </a:xfrm>
          <a:prstGeom prst="ellipse">
            <a:avLst/>
          </a:prstGeom>
          <a:solidFill>
            <a:srgbClr val="FFFFFF">
              <a:alpha val="36245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7724250" y="5659356"/>
            <a:ext cx="54864" cy="54864"/>
          </a:xfrm>
          <a:prstGeom prst="ellipse">
            <a:avLst/>
          </a:prstGeom>
          <a:solidFill>
            <a:srgbClr val="FFFFFF">
              <a:alpha val="48911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6754759" y="5873453"/>
            <a:ext cx="54864" cy="54864"/>
          </a:xfrm>
          <a:prstGeom prst="ellipse">
            <a:avLst/>
          </a:prstGeom>
          <a:solidFill>
            <a:srgbClr val="FFFFFF">
              <a:alpha val="17683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9289345" y="1047604"/>
            <a:ext cx="54864" cy="54864"/>
          </a:xfrm>
          <a:prstGeom prst="ellipse">
            <a:avLst/>
          </a:prstGeom>
          <a:solidFill>
            <a:srgbClr val="FFFFFF">
              <a:alpha val="41599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8980979" y="5215715"/>
            <a:ext cx="54864" cy="54864"/>
          </a:xfrm>
          <a:prstGeom prst="ellipse">
            <a:avLst/>
          </a:prstGeom>
          <a:solidFill>
            <a:srgbClr val="FFFFFF">
              <a:alpha val="46138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8628416" y="5708212"/>
            <a:ext cx="54864" cy="54864"/>
          </a:xfrm>
          <a:prstGeom prst="ellipse">
            <a:avLst/>
          </a:prstGeom>
          <a:solidFill>
            <a:srgbClr val="FFFFFF">
              <a:alpha val="34865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4130345" y="3373037"/>
            <a:ext cx="54864" cy="54864"/>
          </a:xfrm>
          <a:prstGeom prst="ellipse">
            <a:avLst/>
          </a:prstGeom>
          <a:solidFill>
            <a:srgbClr val="FFFFFF">
              <a:alpha val="42196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974057" y="3523045"/>
            <a:ext cx="54864" cy="54864"/>
          </a:xfrm>
          <a:prstGeom prst="ellipse">
            <a:avLst/>
          </a:prstGeom>
          <a:solidFill>
            <a:srgbClr val="FFFFFF">
              <a:alpha val="18392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11842663" y="3566592"/>
            <a:ext cx="54864" cy="54864"/>
          </a:xfrm>
          <a:prstGeom prst="ellipse">
            <a:avLst/>
          </a:prstGeom>
          <a:solidFill>
            <a:srgbClr val="FFFFFF">
              <a:alpha val="11847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10630298" y="2481959"/>
            <a:ext cx="54864" cy="54864"/>
          </a:xfrm>
          <a:prstGeom prst="ellipse">
            <a:avLst/>
          </a:prstGeom>
          <a:solidFill>
            <a:srgbClr val="FFFFFF">
              <a:alpha val="1375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5682398" y="4446983"/>
            <a:ext cx="54864" cy="54864"/>
          </a:xfrm>
          <a:prstGeom prst="ellipse">
            <a:avLst/>
          </a:prstGeom>
          <a:solidFill>
            <a:srgbClr val="FFFFFF">
              <a:alpha val="22138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10074998" y="939168"/>
            <a:ext cx="54864" cy="54864"/>
          </a:xfrm>
          <a:prstGeom prst="ellipse">
            <a:avLst/>
          </a:prstGeom>
          <a:solidFill>
            <a:srgbClr val="FFFFFF">
              <a:alpha val="15074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174605" y="2183261"/>
            <a:ext cx="54864" cy="54864"/>
          </a:xfrm>
          <a:prstGeom prst="ellipse">
            <a:avLst/>
          </a:prstGeom>
          <a:solidFill>
            <a:srgbClr val="FFFFFF">
              <a:alpha val="10389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8296690" y="6301812"/>
            <a:ext cx="54864" cy="54864"/>
          </a:xfrm>
          <a:prstGeom prst="ellipse">
            <a:avLst/>
          </a:prstGeom>
          <a:solidFill>
            <a:srgbClr val="FFFFFF">
              <a:alpha val="18806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51572" y="37994"/>
            <a:ext cx="54864" cy="54864"/>
          </a:xfrm>
          <a:prstGeom prst="ellipse">
            <a:avLst/>
          </a:prstGeom>
          <a:solidFill>
            <a:srgbClr val="FFFFFF">
              <a:alpha val="29725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-19165" y="3429965"/>
            <a:ext cx="54864" cy="54864"/>
          </a:xfrm>
          <a:prstGeom prst="ellipse">
            <a:avLst/>
          </a:prstGeom>
          <a:solidFill>
            <a:srgbClr val="FFFFFF">
              <a:alpha val="26202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6097368" y="3262346"/>
            <a:ext cx="54864" cy="54864"/>
          </a:xfrm>
          <a:prstGeom prst="ellipse">
            <a:avLst/>
          </a:prstGeom>
          <a:solidFill>
            <a:srgbClr val="FFFFFF">
              <a:alpha val="39685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2394051" y="5373140"/>
            <a:ext cx="54864" cy="54864"/>
          </a:xfrm>
          <a:prstGeom prst="ellipse">
            <a:avLst/>
          </a:prstGeom>
          <a:solidFill>
            <a:srgbClr val="FFFFFF">
              <a:alpha val="45369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455816" y="6056475"/>
            <a:ext cx="54864" cy="54864"/>
          </a:xfrm>
          <a:prstGeom prst="ellipse">
            <a:avLst/>
          </a:prstGeom>
          <a:solidFill>
            <a:srgbClr val="FFFFFF">
              <a:alpha val="33838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11140895" y="2356927"/>
            <a:ext cx="54864" cy="54864"/>
          </a:xfrm>
          <a:prstGeom prst="ellipse">
            <a:avLst/>
          </a:prstGeom>
          <a:solidFill>
            <a:srgbClr val="FFFFFF">
              <a:alpha val="36039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10735081" y="1847281"/>
            <a:ext cx="54864" cy="54864"/>
          </a:xfrm>
          <a:prstGeom prst="ellipse">
            <a:avLst/>
          </a:prstGeom>
          <a:solidFill>
            <a:srgbClr val="FFFFFF">
              <a:alpha val="3105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5078160" y="1923972"/>
            <a:ext cx="54864" cy="54864"/>
          </a:xfrm>
          <a:prstGeom prst="ellipse">
            <a:avLst/>
          </a:prstGeom>
          <a:solidFill>
            <a:srgbClr val="FFFFFF">
              <a:alpha val="11546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7381892" y="814229"/>
            <a:ext cx="54864" cy="54864"/>
          </a:xfrm>
          <a:prstGeom prst="ellipse">
            <a:avLst/>
          </a:prstGeom>
          <a:solidFill>
            <a:srgbClr val="FFFFFF">
              <a:alpha val="28179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7486401" y="4350925"/>
            <a:ext cx="54864" cy="54864"/>
          </a:xfrm>
          <a:prstGeom prst="ellipse">
            <a:avLst/>
          </a:prstGeom>
          <a:solidFill>
            <a:srgbClr val="FFFFFF">
              <a:alpha val="45851"/>
            </a:srgbClr>
          </a:solidFill>
          <a:ln/>
        </p:spPr>
      </p:sp>
      <p:sp>
        <p:nvSpPr>
          <p:cNvPr id="171" name="Shape 169"/>
          <p:cNvSpPr/>
          <p:nvPr/>
        </p:nvSpPr>
        <p:spPr>
          <a:xfrm>
            <a:off x="1585640" y="814859"/>
            <a:ext cx="54864" cy="54864"/>
          </a:xfrm>
          <a:prstGeom prst="ellipse">
            <a:avLst/>
          </a:prstGeom>
          <a:solidFill>
            <a:srgbClr val="FFFFFF">
              <a:alpha val="45598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9816850" y="4604933"/>
            <a:ext cx="54864" cy="54864"/>
          </a:xfrm>
          <a:prstGeom prst="ellipse">
            <a:avLst/>
          </a:prstGeom>
          <a:solidFill>
            <a:srgbClr val="FFFFFF">
              <a:alpha val="49321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6019730" y="2541023"/>
            <a:ext cx="54864" cy="54864"/>
          </a:xfrm>
          <a:prstGeom prst="ellipse">
            <a:avLst/>
          </a:prstGeom>
          <a:solidFill>
            <a:srgbClr val="FFFFFF">
              <a:alpha val="25556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11387050" y="729759"/>
            <a:ext cx="54864" cy="54864"/>
          </a:xfrm>
          <a:prstGeom prst="ellipse">
            <a:avLst/>
          </a:prstGeom>
          <a:solidFill>
            <a:srgbClr val="FFFFFF">
              <a:alpha val="20598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10441033" y="5581067"/>
            <a:ext cx="54864" cy="54864"/>
          </a:xfrm>
          <a:prstGeom prst="ellipse">
            <a:avLst/>
          </a:prstGeom>
          <a:solidFill>
            <a:srgbClr val="FFFFFF">
              <a:alpha val="27216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1396972" y="2770656"/>
            <a:ext cx="54864" cy="54864"/>
          </a:xfrm>
          <a:prstGeom prst="ellipse">
            <a:avLst/>
          </a:prstGeom>
          <a:solidFill>
            <a:srgbClr val="FFFFFF">
              <a:alpha val="10724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7891510" y="4996522"/>
            <a:ext cx="54864" cy="54864"/>
          </a:xfrm>
          <a:prstGeom prst="ellipse">
            <a:avLst/>
          </a:prstGeom>
          <a:solidFill>
            <a:srgbClr val="FFFFFF">
              <a:alpha val="23653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3380489" y="2440516"/>
            <a:ext cx="54864" cy="54864"/>
          </a:xfrm>
          <a:prstGeom prst="ellipse">
            <a:avLst/>
          </a:prstGeom>
          <a:solidFill>
            <a:srgbClr val="FFFFFF">
              <a:alpha val="11291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7466244" y="3899764"/>
            <a:ext cx="54864" cy="54864"/>
          </a:xfrm>
          <a:prstGeom prst="ellipse">
            <a:avLst/>
          </a:prstGeom>
          <a:solidFill>
            <a:srgbClr val="FFFFFF">
              <a:alpha val="30117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6086748" y="4696837"/>
            <a:ext cx="54864" cy="54864"/>
          </a:xfrm>
          <a:prstGeom prst="ellipse">
            <a:avLst/>
          </a:prstGeom>
          <a:solidFill>
            <a:srgbClr val="FFFFFF">
              <a:alpha val="38328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4659114" y="5300260"/>
            <a:ext cx="54864" cy="54864"/>
          </a:xfrm>
          <a:prstGeom prst="ellipse">
            <a:avLst/>
          </a:prstGeom>
          <a:solidFill>
            <a:srgbClr val="FFFFFF">
              <a:alpha val="46279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5619893" y="4210669"/>
            <a:ext cx="54864" cy="54864"/>
          </a:xfrm>
          <a:prstGeom prst="ellipse">
            <a:avLst/>
          </a:prstGeom>
          <a:solidFill>
            <a:srgbClr val="FFFFFF">
              <a:alpha val="20685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6894733" y="5240773"/>
            <a:ext cx="54864" cy="54864"/>
          </a:xfrm>
          <a:prstGeom prst="ellipse">
            <a:avLst/>
          </a:prstGeom>
          <a:solidFill>
            <a:srgbClr val="FFFFFF">
              <a:alpha val="36457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5554771" y="6373212"/>
            <a:ext cx="54864" cy="54864"/>
          </a:xfrm>
          <a:prstGeom prst="ellipse">
            <a:avLst/>
          </a:prstGeom>
          <a:solidFill>
            <a:srgbClr val="FFFFFF">
              <a:alpha val="44992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1529158" y="3193997"/>
            <a:ext cx="54864" cy="54864"/>
          </a:xfrm>
          <a:prstGeom prst="ellipse">
            <a:avLst/>
          </a:prstGeom>
          <a:solidFill>
            <a:srgbClr val="FFFFFF">
              <a:alpha val="30454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9797987" y="2801853"/>
            <a:ext cx="54864" cy="54864"/>
          </a:xfrm>
          <a:prstGeom prst="ellipse">
            <a:avLst/>
          </a:prstGeom>
          <a:solidFill>
            <a:srgbClr val="FFFFFF">
              <a:alpha val="31228"/>
            </a:srgb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8408582" y="4975260"/>
            <a:ext cx="54864" cy="54864"/>
          </a:xfrm>
          <a:prstGeom prst="ellipse">
            <a:avLst/>
          </a:prstGeom>
          <a:solidFill>
            <a:srgbClr val="FFFFFF">
              <a:alpha val="16109"/>
            </a:srgb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847516" y="2159477"/>
            <a:ext cx="54864" cy="54864"/>
          </a:xfrm>
          <a:prstGeom prst="ellipse">
            <a:avLst/>
          </a:prstGeom>
          <a:solidFill>
            <a:srgbClr val="FFFFFF">
              <a:alpha val="13379"/>
            </a:srgb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2807328" y="1773443"/>
            <a:ext cx="54864" cy="54864"/>
          </a:xfrm>
          <a:prstGeom prst="ellipse">
            <a:avLst/>
          </a:prstGeom>
          <a:solidFill>
            <a:srgbClr val="FFFFFF">
              <a:alpha val="47111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10363643" y="427024"/>
            <a:ext cx="54864" cy="54864"/>
          </a:xfrm>
          <a:prstGeom prst="ellipse">
            <a:avLst/>
          </a:prstGeom>
          <a:solidFill>
            <a:srgbClr val="FFFFFF">
              <a:alpha val="18274"/>
            </a:srgb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4675381" y="2940423"/>
            <a:ext cx="54864" cy="54864"/>
          </a:xfrm>
          <a:prstGeom prst="ellipse">
            <a:avLst/>
          </a:prstGeom>
          <a:solidFill>
            <a:srgbClr val="FFFFFF">
              <a:alpha val="23868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149902" y="6254954"/>
            <a:ext cx="54864" cy="54864"/>
          </a:xfrm>
          <a:prstGeom prst="ellipse">
            <a:avLst/>
          </a:prstGeom>
          <a:solidFill>
            <a:srgbClr val="FFFFFF">
              <a:alpha val="34309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789359" y="2285340"/>
            <a:ext cx="54864" cy="54864"/>
          </a:xfrm>
          <a:prstGeom prst="ellipse">
            <a:avLst/>
          </a:prstGeom>
          <a:solidFill>
            <a:srgbClr val="FFFFFF">
              <a:alpha val="28514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754418" y="4632011"/>
            <a:ext cx="54864" cy="54864"/>
          </a:xfrm>
          <a:prstGeom prst="ellipse">
            <a:avLst/>
          </a:prstGeom>
          <a:solidFill>
            <a:srgbClr val="FFFFFF">
              <a:alpha val="39004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5043956" y="4452279"/>
            <a:ext cx="54864" cy="54864"/>
          </a:xfrm>
          <a:prstGeom prst="ellipse">
            <a:avLst/>
          </a:prstGeom>
          <a:solidFill>
            <a:srgbClr val="FFFFFF">
              <a:alpha val="15939"/>
            </a:srgb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7870417" y="2483519"/>
            <a:ext cx="54864" cy="54864"/>
          </a:xfrm>
          <a:prstGeom prst="ellipse">
            <a:avLst/>
          </a:prstGeom>
          <a:solidFill>
            <a:srgbClr val="FFFFFF">
              <a:alpha val="18720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11545504" y="5053475"/>
            <a:ext cx="54864" cy="54864"/>
          </a:xfrm>
          <a:prstGeom prst="ellipse">
            <a:avLst/>
          </a:prstGeom>
          <a:solidFill>
            <a:srgbClr val="FFFFFF">
              <a:alpha val="45135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1957568" y="82911"/>
            <a:ext cx="54864" cy="54864"/>
          </a:xfrm>
          <a:prstGeom prst="ellipse">
            <a:avLst/>
          </a:prstGeom>
          <a:solidFill>
            <a:srgbClr val="FFFFFF">
              <a:alpha val="47089"/>
            </a:srgb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63125" y="624356"/>
            <a:ext cx="54864" cy="54864"/>
          </a:xfrm>
          <a:prstGeom prst="ellipse">
            <a:avLst/>
          </a:prstGeom>
          <a:solidFill>
            <a:srgbClr val="FFFFFF">
              <a:alpha val="12690"/>
            </a:srgb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8071029" y="4804329"/>
            <a:ext cx="54864" cy="54864"/>
          </a:xfrm>
          <a:prstGeom prst="ellipse">
            <a:avLst/>
          </a:prstGeom>
          <a:solidFill>
            <a:srgbClr val="FFFFFF">
              <a:alpha val="38651"/>
            </a:srgb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7628141" y="62344"/>
            <a:ext cx="54864" cy="54864"/>
          </a:xfrm>
          <a:prstGeom prst="ellipse">
            <a:avLst/>
          </a:prstGeom>
          <a:solidFill>
            <a:srgbClr val="FFFFFF">
              <a:alpha val="10475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2904640" y="5170897"/>
            <a:ext cx="54864" cy="54864"/>
          </a:xfrm>
          <a:prstGeom prst="ellipse">
            <a:avLst/>
          </a:prstGeom>
          <a:solidFill>
            <a:srgbClr val="FFFFFF">
              <a:alpha val="18942"/>
            </a:srgb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9460729" y="5406271"/>
            <a:ext cx="54864" cy="54864"/>
          </a:xfrm>
          <a:prstGeom prst="ellipse">
            <a:avLst/>
          </a:prstGeom>
          <a:solidFill>
            <a:srgbClr val="FFFFFF">
              <a:alpha val="33735"/>
            </a:srgb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3217139" y="6108913"/>
            <a:ext cx="54864" cy="54864"/>
          </a:xfrm>
          <a:prstGeom prst="ellipse">
            <a:avLst/>
          </a:prstGeom>
          <a:solidFill>
            <a:srgbClr val="FFFFFF">
              <a:alpha val="23901"/>
            </a:srgbClr>
          </a:solidFill>
          <a:ln/>
        </p:spPr>
      </p:sp>
      <p:sp>
        <p:nvSpPr>
          <p:cNvPr id="205" name="Shape 203"/>
          <p:cNvSpPr/>
          <p:nvPr/>
        </p:nvSpPr>
        <p:spPr>
          <a:xfrm>
            <a:off x="873348" y="1951721"/>
            <a:ext cx="54864" cy="54864"/>
          </a:xfrm>
          <a:prstGeom prst="ellipse">
            <a:avLst/>
          </a:prstGeom>
          <a:solidFill>
            <a:srgbClr val="FFFFFF">
              <a:alpha val="14681"/>
            </a:srgbClr>
          </a:solidFill>
          <a:ln/>
        </p:spPr>
      </p:sp>
      <p:sp>
        <p:nvSpPr>
          <p:cNvPr id="206" name="Shape 204"/>
          <p:cNvSpPr/>
          <p:nvPr/>
        </p:nvSpPr>
        <p:spPr>
          <a:xfrm>
            <a:off x="537365" y="3035125"/>
            <a:ext cx="54864" cy="54864"/>
          </a:xfrm>
          <a:prstGeom prst="ellipse">
            <a:avLst/>
          </a:prstGeom>
          <a:solidFill>
            <a:srgbClr val="FFFFFF">
              <a:alpha val="14837"/>
            </a:srgbClr>
          </a:solidFill>
          <a:ln/>
        </p:spPr>
      </p:sp>
      <p:sp>
        <p:nvSpPr>
          <p:cNvPr id="207" name="Shape 205"/>
          <p:cNvSpPr/>
          <p:nvPr/>
        </p:nvSpPr>
        <p:spPr>
          <a:xfrm>
            <a:off x="9554903" y="6308186"/>
            <a:ext cx="54864" cy="54864"/>
          </a:xfrm>
          <a:prstGeom prst="ellipse">
            <a:avLst/>
          </a:prstGeom>
          <a:solidFill>
            <a:srgbClr val="FFFFFF">
              <a:alpha val="25484"/>
            </a:srgbClr>
          </a:solidFill>
          <a:ln/>
        </p:spPr>
      </p:sp>
      <p:sp>
        <p:nvSpPr>
          <p:cNvPr id="208" name="Shape 206"/>
          <p:cNvSpPr/>
          <p:nvPr/>
        </p:nvSpPr>
        <p:spPr>
          <a:xfrm>
            <a:off x="2549175" y="5390434"/>
            <a:ext cx="54864" cy="54864"/>
          </a:xfrm>
          <a:prstGeom prst="ellipse">
            <a:avLst/>
          </a:prstGeom>
          <a:solidFill>
            <a:srgbClr val="FFFFFF">
              <a:alpha val="47210"/>
            </a:srgbClr>
          </a:solidFill>
          <a:ln/>
        </p:spPr>
      </p:sp>
      <p:sp>
        <p:nvSpPr>
          <p:cNvPr id="209" name="Shape 207"/>
          <p:cNvSpPr/>
          <p:nvPr/>
        </p:nvSpPr>
        <p:spPr>
          <a:xfrm>
            <a:off x="5194799" y="4731237"/>
            <a:ext cx="54864" cy="54864"/>
          </a:xfrm>
          <a:prstGeom prst="ellipse">
            <a:avLst/>
          </a:prstGeom>
          <a:solidFill>
            <a:srgbClr val="FFFFFF">
              <a:alpha val="20586"/>
            </a:srgbClr>
          </a:solidFill>
          <a:ln/>
        </p:spPr>
      </p:sp>
      <p:sp>
        <p:nvSpPr>
          <p:cNvPr id="210" name="Shape 208"/>
          <p:cNvSpPr/>
          <p:nvPr/>
        </p:nvSpPr>
        <p:spPr>
          <a:xfrm>
            <a:off x="11852542" y="1914879"/>
            <a:ext cx="54864" cy="54864"/>
          </a:xfrm>
          <a:prstGeom prst="ellipse">
            <a:avLst/>
          </a:prstGeom>
          <a:solidFill>
            <a:srgbClr val="FFFFFF">
              <a:alpha val="35037"/>
            </a:srgbClr>
          </a:solidFill>
          <a:ln/>
        </p:spPr>
      </p:sp>
      <p:sp>
        <p:nvSpPr>
          <p:cNvPr id="211" name="Shape 209"/>
          <p:cNvSpPr/>
          <p:nvPr/>
        </p:nvSpPr>
        <p:spPr>
          <a:xfrm>
            <a:off x="2911195" y="6031854"/>
            <a:ext cx="54864" cy="54864"/>
          </a:xfrm>
          <a:prstGeom prst="ellipse">
            <a:avLst/>
          </a:prstGeom>
          <a:solidFill>
            <a:srgbClr val="FFFFFF">
              <a:alpha val="40017"/>
            </a:srgbClr>
          </a:solidFill>
          <a:ln/>
        </p:spPr>
      </p:sp>
      <p:sp>
        <p:nvSpPr>
          <p:cNvPr id="212" name="Shape 210"/>
          <p:cNvSpPr/>
          <p:nvPr/>
        </p:nvSpPr>
        <p:spPr>
          <a:xfrm>
            <a:off x="9659028" y="6233491"/>
            <a:ext cx="54864" cy="54864"/>
          </a:xfrm>
          <a:prstGeom prst="ellipse">
            <a:avLst/>
          </a:prstGeom>
          <a:solidFill>
            <a:srgbClr val="FFFFFF">
              <a:alpha val="46673"/>
            </a:srgbClr>
          </a:solidFill>
          <a:ln/>
        </p:spPr>
      </p:sp>
      <p:sp>
        <p:nvSpPr>
          <p:cNvPr id="213" name="Shape 211"/>
          <p:cNvSpPr/>
          <p:nvPr/>
        </p:nvSpPr>
        <p:spPr>
          <a:xfrm>
            <a:off x="11743960" y="588369"/>
            <a:ext cx="54864" cy="54864"/>
          </a:xfrm>
          <a:prstGeom prst="ellipse">
            <a:avLst/>
          </a:prstGeom>
          <a:solidFill>
            <a:srgbClr val="FFFFFF">
              <a:alpha val="28115"/>
            </a:srgbClr>
          </a:solidFill>
          <a:ln/>
        </p:spPr>
      </p:sp>
      <p:sp>
        <p:nvSpPr>
          <p:cNvPr id="214" name="Shape 212"/>
          <p:cNvSpPr/>
          <p:nvPr/>
        </p:nvSpPr>
        <p:spPr>
          <a:xfrm>
            <a:off x="4943731" y="668324"/>
            <a:ext cx="54864" cy="54864"/>
          </a:xfrm>
          <a:prstGeom prst="ellipse">
            <a:avLst/>
          </a:prstGeom>
          <a:solidFill>
            <a:srgbClr val="FFFFFF">
              <a:alpha val="44329"/>
            </a:srgbClr>
          </a:solidFill>
          <a:ln/>
        </p:spPr>
      </p:sp>
      <p:sp>
        <p:nvSpPr>
          <p:cNvPr id="215" name="Shape 213"/>
          <p:cNvSpPr/>
          <p:nvPr/>
        </p:nvSpPr>
        <p:spPr>
          <a:xfrm>
            <a:off x="8790495" y="3590537"/>
            <a:ext cx="54864" cy="54864"/>
          </a:xfrm>
          <a:prstGeom prst="ellipse">
            <a:avLst/>
          </a:prstGeom>
          <a:solidFill>
            <a:srgbClr val="FFFFFF">
              <a:alpha val="32899"/>
            </a:srgbClr>
          </a:solidFill>
          <a:ln/>
        </p:spPr>
      </p:sp>
      <p:sp>
        <p:nvSpPr>
          <p:cNvPr id="216" name="Shape 214"/>
          <p:cNvSpPr/>
          <p:nvPr/>
        </p:nvSpPr>
        <p:spPr>
          <a:xfrm>
            <a:off x="7311982" y="5230074"/>
            <a:ext cx="54864" cy="54864"/>
          </a:xfrm>
          <a:prstGeom prst="ellipse">
            <a:avLst/>
          </a:prstGeom>
          <a:solidFill>
            <a:srgbClr val="FFFFFF">
              <a:alpha val="19479"/>
            </a:srgbClr>
          </a:solidFill>
          <a:ln/>
        </p:spPr>
      </p:sp>
      <p:sp>
        <p:nvSpPr>
          <p:cNvPr id="217" name="Shape 215"/>
          <p:cNvSpPr/>
          <p:nvPr/>
        </p:nvSpPr>
        <p:spPr>
          <a:xfrm flipV="1">
            <a:off x="6400800" y="4754880"/>
            <a:ext cx="1097280" cy="109728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498080" y="4754880"/>
            <a:ext cx="1097280" cy="27432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flipV="1">
            <a:off x="8595360" y="3566160"/>
            <a:ext cx="914400" cy="146304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flipV="1">
            <a:off x="9509760" y="3200400"/>
            <a:ext cx="1097280" cy="36576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flipV="1">
            <a:off x="10607040" y="1737360"/>
            <a:ext cx="640080" cy="146304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flipV="1">
            <a:off x="6400800" y="4754880"/>
            <a:ext cx="1097280" cy="109728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498080" y="4754880"/>
            <a:ext cx="1097280" cy="27432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flipV="1">
            <a:off x="8595360" y="3566160"/>
            <a:ext cx="914400" cy="146304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flipV="1">
            <a:off x="9509760" y="3200400"/>
            <a:ext cx="1097280" cy="36576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flipV="1">
            <a:off x="10607040" y="1737360"/>
            <a:ext cx="640080" cy="146304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flipV="1">
            <a:off x="6400800" y="4754880"/>
            <a:ext cx="1097280" cy="109728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498080" y="4754880"/>
            <a:ext cx="1097280" cy="27432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flipV="1">
            <a:off x="8595360" y="3566160"/>
            <a:ext cx="914400" cy="146304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flipV="1">
            <a:off x="9509760" y="3200400"/>
            <a:ext cx="1097280" cy="36576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flipV="1">
            <a:off x="10607040" y="1737360"/>
            <a:ext cx="640080" cy="146304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607040" y="1097280"/>
            <a:ext cx="1280160" cy="1280160"/>
          </a:xfrm>
          <a:prstGeom prst="ellipse">
            <a:avLst/>
          </a:prstGeom>
          <a:solidFill>
            <a:srgbClr val="FFB224">
              <a:alpha val="18000"/>
            </a:srgbClr>
          </a:solidFill>
          <a:ln/>
        </p:spPr>
      </p:sp>
      <p:sp>
        <p:nvSpPr>
          <p:cNvPr id="233" name="Shape 231"/>
          <p:cNvSpPr/>
          <p:nvPr/>
        </p:nvSpPr>
        <p:spPr>
          <a:xfrm>
            <a:off x="10835640" y="1325880"/>
            <a:ext cx="822960" cy="822960"/>
          </a:xfrm>
          <a:prstGeom prst="ellipse">
            <a:avLst/>
          </a:prstGeom>
          <a:solidFill>
            <a:srgbClr val="FFB224">
              <a:alpha val="38000"/>
            </a:srgbClr>
          </a:solidFill>
          <a:ln/>
        </p:spPr>
      </p:sp>
      <p:sp>
        <p:nvSpPr>
          <p:cNvPr id="234" name="Shape 232"/>
          <p:cNvSpPr/>
          <p:nvPr/>
        </p:nvSpPr>
        <p:spPr>
          <a:xfrm>
            <a:off x="11018520" y="1508760"/>
            <a:ext cx="457200" cy="457200"/>
          </a:xfrm>
          <a:prstGeom prst="ellipse">
            <a:avLst/>
          </a:prstGeom>
          <a:solidFill>
            <a:srgbClr val="FFB224">
              <a:alpha val="58000"/>
            </a:srgbClr>
          </a:solidFill>
          <a:ln/>
        </p:spPr>
      </p:sp>
      <p:sp>
        <p:nvSpPr>
          <p:cNvPr id="235" name="Shape 233"/>
          <p:cNvSpPr/>
          <p:nvPr/>
        </p:nvSpPr>
        <p:spPr>
          <a:xfrm>
            <a:off x="11155680" y="1645920"/>
            <a:ext cx="182880" cy="182880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236" name="Shape 234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50B1A">
              <a:alpha val="85000"/>
            </a:srgbClr>
          </a:solidFill>
          <a:ln/>
        </p:spPr>
      </p:sp>
      <p:sp>
        <p:nvSpPr>
          <p:cNvPr id="237" name="Shape 235"/>
          <p:cNvSpPr/>
          <p:nvPr/>
        </p:nvSpPr>
        <p:spPr>
          <a:xfrm>
            <a:off x="0" y="0"/>
            <a:ext cx="6291072" cy="6858000"/>
          </a:xfrm>
          <a:prstGeom prst="rect">
            <a:avLst/>
          </a:prstGeom>
          <a:solidFill>
            <a:srgbClr val="050B1A">
              <a:alpha val="71000"/>
            </a:srgbClr>
          </a:solidFill>
          <a:ln/>
        </p:spPr>
      </p:sp>
      <p:sp>
        <p:nvSpPr>
          <p:cNvPr id="238" name="Shape 236"/>
          <p:cNvSpPr/>
          <p:nvPr/>
        </p:nvSpPr>
        <p:spPr>
          <a:xfrm>
            <a:off x="0" y="0"/>
            <a:ext cx="4718304" cy="6858000"/>
          </a:xfrm>
          <a:prstGeom prst="rect">
            <a:avLst/>
          </a:prstGeom>
          <a:solidFill>
            <a:srgbClr val="050B1A">
              <a:alpha val="57000"/>
            </a:srgbClr>
          </a:solidFill>
          <a:ln/>
        </p:spPr>
      </p:sp>
      <p:sp>
        <p:nvSpPr>
          <p:cNvPr id="239" name="Shape 237"/>
          <p:cNvSpPr/>
          <p:nvPr/>
        </p:nvSpPr>
        <p:spPr>
          <a:xfrm>
            <a:off x="0" y="0"/>
            <a:ext cx="3145536" cy="6858000"/>
          </a:xfrm>
          <a:prstGeom prst="rect">
            <a:avLst/>
          </a:prstGeom>
          <a:solidFill>
            <a:srgbClr val="050B1A">
              <a:alpha val="43000"/>
            </a:srgbClr>
          </a:solidFill>
          <a:ln/>
        </p:spPr>
      </p:sp>
      <p:sp>
        <p:nvSpPr>
          <p:cNvPr id="240" name="Shape 238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050B1A">
              <a:alpha val="29000"/>
            </a:srgbClr>
          </a:solidFill>
          <a:ln/>
        </p:spPr>
      </p:sp>
      <p:sp>
        <p:nvSpPr>
          <p:cNvPr id="241" name="Text 239"/>
          <p:cNvSpPr txBox="1"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|  CA-3</a:t>
            </a:r>
            <a:endParaRPr lang="en-US" sz="1300" dirty="0"/>
          </a:p>
        </p:txBody>
      </p:sp>
      <p:sp>
        <p:nvSpPr>
          <p:cNvPr id="242" name="Text 240"/>
          <p:cNvSpPr txBox="1"/>
          <p:nvPr/>
        </p:nvSpPr>
        <p:spPr>
          <a:xfrm>
            <a:off x="640080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</a:t>
            </a:r>
            <a:endParaRPr lang="en-US" sz="8800" dirty="0"/>
          </a:p>
        </p:txBody>
      </p:sp>
      <p:sp>
        <p:nvSpPr>
          <p:cNvPr id="243" name="Text 241"/>
          <p:cNvSpPr txBox="1"/>
          <p:nvPr/>
        </p:nvSpPr>
        <p:spPr>
          <a:xfrm>
            <a:off x="640080" y="22860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MAP.</a:t>
            </a:r>
            <a:endParaRPr lang="en-US" sz="8800" dirty="0"/>
          </a:p>
        </p:txBody>
      </p:sp>
      <p:sp>
        <p:nvSpPr>
          <p:cNvPr id="244" name="Text 242"/>
          <p:cNvSpPr txBox="1"/>
          <p:nvPr/>
        </p:nvSpPr>
        <p:spPr>
          <a:xfrm>
            <a:off x="640080" y="3794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Dijkstra's Shortest Path Algorithm</a:t>
            </a:r>
            <a:endParaRPr lang="en-US" sz="2600" dirty="0"/>
          </a:p>
        </p:txBody>
      </p:sp>
      <p:sp>
        <p:nvSpPr>
          <p:cNvPr id="245" name="Text 243"/>
          <p:cNvSpPr txBox="1"/>
          <p:nvPr/>
        </p:nvSpPr>
        <p:spPr>
          <a:xfrm>
            <a:off x="640080" y="4343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Algorithms Power GPS Route Finding</a:t>
            </a:r>
            <a:endParaRPr lang="en-US" sz="1800" dirty="0"/>
          </a:p>
        </p:txBody>
      </p:sp>
      <p:sp>
        <p:nvSpPr>
          <p:cNvPr id="246" name="Text 244"/>
          <p:cNvSpPr txBox="1"/>
          <p:nvPr/>
        </p:nvSpPr>
        <p:spPr>
          <a:xfrm>
            <a:off x="640080" y="5349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Shirbhate   |   PRN 25070521240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D2   |   [Institute name]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1" y="3367788"/>
            <a:ext cx="4715514" cy="2406383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2429" y="1948456"/>
            <a:ext cx="4862093" cy="3891832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3964" y="1985529"/>
            <a:ext cx="6161280" cy="3573241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1587" y="885157"/>
            <a:ext cx="5026389" cy="3770715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44637" y="197098"/>
            <a:ext cx="6159068" cy="3112331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0"/>
            <a:ext cx="579366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50876"/>
            <a:ext cx="12161520" cy="843284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88523" y="0"/>
            <a:ext cx="517317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31927"/>
            <a:ext cx="12161520" cy="35814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0"/>
            <a:ext cx="580418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12978"/>
            <a:ext cx="12161520" cy="517097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0"/>
            <a:ext cx="197173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94030"/>
            <a:ext cx="12161520" cy="212413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0"/>
            <a:ext cx="565093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75081"/>
            <a:ext cx="12161520" cy="1120142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025172" y="0"/>
            <a:ext cx="175228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0" y="604564"/>
            <a:ext cx="12161520" cy="451568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0"/>
            <a:ext cx="462464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0" y="777016"/>
            <a:ext cx="12161520" cy="460167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821149" y="0"/>
            <a:ext cx="476531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0" y="863119"/>
            <a:ext cx="12161520" cy="555115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748209" y="0"/>
            <a:ext cx="98111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0" y="1036582"/>
            <a:ext cx="12161520" cy="562703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0"/>
            <a:ext cx="599748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0337"/>
            <a:ext cx="12161520" cy="157379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0"/>
            <a:ext cx="314470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961388"/>
            <a:ext cx="12161520" cy="1036524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886847" y="0"/>
            <a:ext cx="605393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0" y="1521079"/>
            <a:ext cx="12161520" cy="621360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0"/>
            <a:ext cx="83160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23490"/>
            <a:ext cx="12161520" cy="24143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7481771" y="0"/>
            <a:ext cx="107749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0" y="1662242"/>
            <a:ext cx="12161520" cy="842300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0"/>
            <a:ext cx="560943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0" y="1464539"/>
            <a:ext cx="12161520" cy="1221054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8502270" y="0"/>
            <a:ext cx="184530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0" y="2439040"/>
            <a:ext cx="12161520" cy="427604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35440" y="0"/>
            <a:ext cx="225520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047695"/>
            <a:ext cx="12161520" cy="1164071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0"/>
            <a:ext cx="20375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0" y="2311284"/>
            <a:ext cx="12161520" cy="917462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10203271" y="0"/>
            <a:ext cx="129449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0" y="2816153"/>
            <a:ext cx="12161520" cy="593645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695449" y="0"/>
            <a:ext cx="185911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0" y="3382229"/>
            <a:ext cx="12161520" cy="208620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1200355" y="0"/>
            <a:ext cx="229645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3771900"/>
            <a:ext cx="12161520" cy="86850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978640" y="0"/>
            <a:ext cx="156422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0" y="3221149"/>
            <a:ext cx="12161520" cy="731802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46786" y="2930522"/>
            <a:ext cx="1801862" cy="308908"/>
          </a:xfrm>
          <a:prstGeom prst="line">
            <a:avLst/>
          </a:prstGeom>
          <a:noFill/>
          <a:ln w="5561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748648" y="3239430"/>
            <a:ext cx="229992" cy="37133"/>
          </a:xfrm>
          <a:prstGeom prst="line">
            <a:avLst/>
          </a:prstGeom>
          <a:noFill/>
          <a:ln w="5561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978640" y="3276562"/>
            <a:ext cx="0" cy="432043"/>
          </a:xfrm>
          <a:prstGeom prst="line">
            <a:avLst/>
          </a:prstGeom>
          <a:noFill/>
          <a:ln w="5561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46786" y="2930522"/>
            <a:ext cx="1801862" cy="308908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748648" y="3239430"/>
            <a:ext cx="229992" cy="37133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978640" y="3276562"/>
            <a:ext cx="0" cy="432043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196719" y="4533250"/>
            <a:ext cx="156433" cy="198561"/>
          </a:xfrm>
          <a:prstGeom prst="line">
            <a:avLst/>
          </a:prstGeom>
          <a:noFill/>
          <a:ln w="54040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196719" y="4344562"/>
            <a:ext cx="161901" cy="387249"/>
          </a:xfrm>
          <a:prstGeom prst="line">
            <a:avLst/>
          </a:prstGeom>
          <a:noFill/>
          <a:ln w="54040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358621" y="4344562"/>
            <a:ext cx="292618" cy="673732"/>
          </a:xfrm>
          <a:prstGeom prst="line">
            <a:avLst/>
          </a:prstGeom>
          <a:noFill/>
          <a:ln w="54040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196719" y="4533250"/>
            <a:ext cx="156433" cy="198561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4196719" y="4344562"/>
            <a:ext cx="161901" cy="387249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58621" y="4344562"/>
            <a:ext cx="292618" cy="673732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7439" y="5030407"/>
            <a:ext cx="711353" cy="213046"/>
          </a:xfrm>
          <a:prstGeom prst="line">
            <a:avLst/>
          </a:prstGeom>
          <a:noFill/>
          <a:ln w="4781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82880" y="4065449"/>
            <a:ext cx="324559" cy="964957"/>
          </a:xfrm>
          <a:prstGeom prst="line">
            <a:avLst/>
          </a:prstGeom>
          <a:noFill/>
          <a:ln w="4781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182880" y="3425382"/>
            <a:ext cx="2228135" cy="640067"/>
          </a:xfrm>
          <a:prstGeom prst="line">
            <a:avLst/>
          </a:prstGeom>
          <a:noFill/>
          <a:ln w="4781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7439" y="5030407"/>
            <a:ext cx="711353" cy="213046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2880" y="4065449"/>
            <a:ext cx="324559" cy="964957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182880" y="3425382"/>
            <a:ext cx="2228135" cy="640067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582857" y="2097848"/>
            <a:ext cx="937448" cy="828000"/>
          </a:xfrm>
          <a:prstGeom prst="line">
            <a:avLst/>
          </a:prstGeom>
          <a:noFill/>
          <a:ln w="5480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20305" y="2097848"/>
            <a:ext cx="1990236" cy="879116"/>
          </a:xfrm>
          <a:prstGeom prst="line">
            <a:avLst/>
          </a:prstGeom>
          <a:noFill/>
          <a:ln w="5480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10541" y="2976965"/>
            <a:ext cx="1890075" cy="880615"/>
          </a:xfrm>
          <a:prstGeom prst="line">
            <a:avLst/>
          </a:prstGeom>
          <a:noFill/>
          <a:ln w="5480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1582857" y="2097848"/>
            <a:ext cx="937448" cy="828000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520305" y="2097848"/>
            <a:ext cx="1990236" cy="879116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10541" y="2976965"/>
            <a:ext cx="1890075" cy="880615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25145" y="1187518"/>
            <a:ext cx="926559" cy="575400"/>
          </a:xfrm>
          <a:prstGeom prst="line">
            <a:avLst/>
          </a:prstGeom>
          <a:noFill/>
          <a:ln w="5057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708383" y="182880"/>
            <a:ext cx="716762" cy="1004638"/>
          </a:xfrm>
          <a:prstGeom prst="line">
            <a:avLst/>
          </a:prstGeom>
          <a:noFill/>
          <a:ln w="5057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08383" y="182880"/>
            <a:ext cx="1014015" cy="0"/>
          </a:xfrm>
          <a:prstGeom prst="line">
            <a:avLst/>
          </a:prstGeom>
          <a:noFill/>
          <a:ln w="5057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25145" y="1187518"/>
            <a:ext cx="926559" cy="57540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08383" y="182880"/>
            <a:ext cx="716762" cy="1004638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08383" y="182880"/>
            <a:ext cx="1014015" cy="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5171389" y="4400712"/>
            <a:ext cx="198269" cy="873451"/>
          </a:xfrm>
          <a:prstGeom prst="line">
            <a:avLst/>
          </a:prstGeom>
          <a:noFill/>
          <a:ln w="4417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963883" y="4986001"/>
            <a:ext cx="207506" cy="288162"/>
          </a:xfrm>
          <a:prstGeom prst="line">
            <a:avLst/>
          </a:prstGeom>
          <a:noFill/>
          <a:ln w="4417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4963883" y="4113601"/>
            <a:ext cx="1901925" cy="872400"/>
          </a:xfrm>
          <a:prstGeom prst="line">
            <a:avLst/>
          </a:prstGeom>
          <a:noFill/>
          <a:ln w="4417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5171389" y="4400712"/>
            <a:ext cx="198269" cy="873451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963883" y="4986001"/>
            <a:ext cx="207506" cy="288162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4963883" y="4113601"/>
            <a:ext cx="1901925" cy="872400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587" y="5843872"/>
            <a:ext cx="1078318" cy="739808"/>
          </a:xfrm>
          <a:prstGeom prst="line">
            <a:avLst/>
          </a:prstGeom>
          <a:noFill/>
          <a:ln w="46108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17985" y="6583680"/>
            <a:ext cx="892921" cy="0"/>
          </a:xfrm>
          <a:prstGeom prst="line">
            <a:avLst/>
          </a:prstGeom>
          <a:noFill/>
          <a:ln w="46108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2880" y="6583680"/>
            <a:ext cx="35105" cy="0"/>
          </a:xfrm>
          <a:prstGeom prst="line">
            <a:avLst/>
          </a:prstGeom>
          <a:noFill/>
          <a:ln w="46108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587" y="5843872"/>
            <a:ext cx="1078318" cy="739808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7985" y="6583680"/>
            <a:ext cx="892921" cy="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82880" y="6583680"/>
            <a:ext cx="35105" cy="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207508" y="1038974"/>
            <a:ext cx="247145" cy="665375"/>
          </a:xfrm>
          <a:prstGeom prst="line">
            <a:avLst/>
          </a:prstGeom>
          <a:noFill/>
          <a:ln w="4988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7207508" y="182880"/>
            <a:ext cx="846220" cy="856094"/>
          </a:xfrm>
          <a:prstGeom prst="line">
            <a:avLst/>
          </a:prstGeom>
          <a:noFill/>
          <a:ln w="4988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053728" y="182880"/>
            <a:ext cx="1502343" cy="458807"/>
          </a:xfrm>
          <a:prstGeom prst="line">
            <a:avLst/>
          </a:prstGeom>
          <a:noFill/>
          <a:ln w="4988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07508" y="1038974"/>
            <a:ext cx="247145" cy="665375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7207508" y="182880"/>
            <a:ext cx="846220" cy="856094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53728" y="182880"/>
            <a:ext cx="1502343" cy="458807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4859413" y="209505"/>
            <a:ext cx="607096" cy="957902"/>
          </a:xfrm>
          <a:prstGeom prst="line">
            <a:avLst/>
          </a:prstGeom>
          <a:noFill/>
          <a:ln w="5418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4317778" y="1167406"/>
            <a:ext cx="541635" cy="429452"/>
          </a:xfrm>
          <a:prstGeom prst="line">
            <a:avLst/>
          </a:prstGeom>
          <a:noFill/>
          <a:ln w="5418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4317778" y="538580"/>
            <a:ext cx="1897911" cy="1058279"/>
          </a:xfrm>
          <a:prstGeom prst="line">
            <a:avLst/>
          </a:prstGeom>
          <a:noFill/>
          <a:ln w="5418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4859413" y="209505"/>
            <a:ext cx="607096" cy="957902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4317778" y="1167406"/>
            <a:ext cx="541635" cy="429452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4317778" y="538580"/>
            <a:ext cx="1897911" cy="1058279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451606" y="6354320"/>
            <a:ext cx="2093992" cy="229360"/>
          </a:xfrm>
          <a:prstGeom prst="line">
            <a:avLst/>
          </a:prstGeom>
          <a:noFill/>
          <a:ln w="4186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11545598" y="6008097"/>
            <a:ext cx="382774" cy="575583"/>
          </a:xfrm>
          <a:prstGeom prst="line">
            <a:avLst/>
          </a:prstGeom>
          <a:noFill/>
          <a:ln w="4186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928372" y="6008097"/>
            <a:ext cx="50268" cy="575583"/>
          </a:xfrm>
          <a:prstGeom prst="line">
            <a:avLst/>
          </a:prstGeom>
          <a:noFill/>
          <a:ln w="41867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451606" y="6354320"/>
            <a:ext cx="2093992" cy="229360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11545598" y="6008097"/>
            <a:ext cx="382774" cy="575583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928372" y="6008097"/>
            <a:ext cx="50268" cy="575583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575840" y="2591582"/>
            <a:ext cx="1878587" cy="134362"/>
          </a:xfrm>
          <a:prstGeom prst="line">
            <a:avLst/>
          </a:prstGeom>
          <a:noFill/>
          <a:ln w="50170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454427" y="2725944"/>
            <a:ext cx="164623" cy="277774"/>
          </a:xfrm>
          <a:prstGeom prst="line">
            <a:avLst/>
          </a:prstGeom>
          <a:noFill/>
          <a:ln w="50170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4619050" y="2626580"/>
            <a:ext cx="1391829" cy="377138"/>
          </a:xfrm>
          <a:prstGeom prst="line">
            <a:avLst/>
          </a:prstGeom>
          <a:noFill/>
          <a:ln w="50170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575840" y="2591582"/>
            <a:ext cx="1878587" cy="134362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454427" y="2725944"/>
            <a:ext cx="164623" cy="277774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4619050" y="2626580"/>
            <a:ext cx="1391829" cy="377138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38777" y="1271367"/>
            <a:ext cx="37491" cy="1109812"/>
          </a:xfrm>
          <a:prstGeom prst="line">
            <a:avLst/>
          </a:prstGeom>
          <a:noFill/>
          <a:ln w="3681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76268" y="2381179"/>
            <a:ext cx="2221549" cy="302683"/>
          </a:xfrm>
          <a:prstGeom prst="line">
            <a:avLst/>
          </a:prstGeom>
          <a:noFill/>
          <a:ln w="3681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897817" y="2683862"/>
            <a:ext cx="1831241" cy="956279"/>
          </a:xfrm>
          <a:prstGeom prst="line">
            <a:avLst/>
          </a:prstGeom>
          <a:noFill/>
          <a:ln w="3681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38777" y="1271367"/>
            <a:ext cx="37491" cy="1109812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676268" y="2381179"/>
            <a:ext cx="2221549" cy="302683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897817" y="2683862"/>
            <a:ext cx="1831241" cy="956279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079820" y="866603"/>
            <a:ext cx="631903" cy="131155"/>
          </a:xfrm>
          <a:prstGeom prst="line">
            <a:avLst/>
          </a:prstGeom>
          <a:noFill/>
          <a:ln w="4309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711722" y="997759"/>
            <a:ext cx="1508674" cy="1019020"/>
          </a:xfrm>
          <a:prstGeom prst="line">
            <a:avLst/>
          </a:prstGeom>
          <a:noFill/>
          <a:ln w="4309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9220396" y="1301606"/>
            <a:ext cx="582704" cy="715173"/>
          </a:xfrm>
          <a:prstGeom prst="line">
            <a:avLst/>
          </a:prstGeom>
          <a:noFill/>
          <a:ln w="43095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79820" y="866603"/>
            <a:ext cx="631903" cy="131155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711722" y="997759"/>
            <a:ext cx="1508674" cy="101902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9220396" y="1301606"/>
            <a:ext cx="582704" cy="715173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822595" y="4241248"/>
            <a:ext cx="709595" cy="140640"/>
          </a:xfrm>
          <a:prstGeom prst="line">
            <a:avLst/>
          </a:prstGeom>
          <a:noFill/>
          <a:ln w="32411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532190" y="4381888"/>
            <a:ext cx="661647" cy="587837"/>
          </a:xfrm>
          <a:prstGeom prst="line">
            <a:avLst/>
          </a:prstGeom>
          <a:noFill/>
          <a:ln w="32411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193837" y="4969725"/>
            <a:ext cx="199875" cy="573510"/>
          </a:xfrm>
          <a:prstGeom prst="line">
            <a:avLst/>
          </a:prstGeom>
          <a:noFill/>
          <a:ln w="32411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822595" y="4241248"/>
            <a:ext cx="709595" cy="140640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532190" y="4381888"/>
            <a:ext cx="661647" cy="587837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193837" y="4969725"/>
            <a:ext cx="199875" cy="573510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2967852" y="3467257"/>
            <a:ext cx="311219" cy="509619"/>
          </a:xfrm>
          <a:prstGeom prst="line">
            <a:avLst/>
          </a:prstGeom>
          <a:noFill/>
          <a:ln w="33663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938743" y="3372720"/>
            <a:ext cx="29109" cy="604156"/>
          </a:xfrm>
          <a:prstGeom prst="line">
            <a:avLst/>
          </a:prstGeom>
          <a:noFill/>
          <a:ln w="33663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2938743" y="3210804"/>
            <a:ext cx="1150775" cy="161915"/>
          </a:xfrm>
          <a:prstGeom prst="line">
            <a:avLst/>
          </a:prstGeom>
          <a:noFill/>
          <a:ln w="33663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2967852" y="3467257"/>
            <a:ext cx="311219" cy="509619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938743" y="3372720"/>
            <a:ext cx="29109" cy="604156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2938743" y="3210804"/>
            <a:ext cx="1150775" cy="161915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480676" y="5267003"/>
            <a:ext cx="1969675" cy="937302"/>
          </a:xfrm>
          <a:prstGeom prst="line">
            <a:avLst/>
          </a:prstGeom>
          <a:noFill/>
          <a:ln w="47016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450352" y="6204305"/>
            <a:ext cx="1219046" cy="379375"/>
          </a:xfrm>
          <a:prstGeom prst="line">
            <a:avLst/>
          </a:prstGeom>
          <a:noFill/>
          <a:ln w="47016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789971" y="6583680"/>
            <a:ext cx="879427" cy="0"/>
          </a:xfrm>
          <a:prstGeom prst="line">
            <a:avLst/>
          </a:prstGeom>
          <a:noFill/>
          <a:ln w="47016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480676" y="5267003"/>
            <a:ext cx="1969675" cy="937302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450352" y="6204305"/>
            <a:ext cx="1219046" cy="379375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789971" y="6583680"/>
            <a:ext cx="879427" cy="0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711759" y="6050288"/>
            <a:ext cx="54864" cy="54864"/>
          </a:xfrm>
          <a:prstGeom prst="ellipse">
            <a:avLst/>
          </a:prstGeom>
          <a:solidFill>
            <a:srgbClr val="FFFFFF">
              <a:alpha val="48519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1613616" y="515724"/>
            <a:ext cx="54864" cy="54864"/>
          </a:xfrm>
          <a:prstGeom prst="ellipse">
            <a:avLst/>
          </a:prstGeom>
          <a:solidFill>
            <a:srgbClr val="FFFFFF">
              <a:alpha val="45671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996668" y="36826"/>
            <a:ext cx="54864" cy="54864"/>
          </a:xfrm>
          <a:prstGeom prst="ellipse">
            <a:avLst/>
          </a:prstGeom>
          <a:solidFill>
            <a:srgbClr val="FFFFFF">
              <a:alpha val="25798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11387826" y="1271824"/>
            <a:ext cx="54864" cy="54864"/>
          </a:xfrm>
          <a:prstGeom prst="ellipse">
            <a:avLst/>
          </a:prstGeom>
          <a:solidFill>
            <a:srgbClr val="FFFFFF">
              <a:alpha val="44654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2413353" y="4539399"/>
            <a:ext cx="54864" cy="54864"/>
          </a:xfrm>
          <a:prstGeom prst="ellipse">
            <a:avLst/>
          </a:prstGeom>
          <a:solidFill>
            <a:srgbClr val="FFFFFF">
              <a:alpha val="4027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5480835" y="6698233"/>
            <a:ext cx="54864" cy="54864"/>
          </a:xfrm>
          <a:prstGeom prst="ellipse">
            <a:avLst/>
          </a:prstGeom>
          <a:solidFill>
            <a:srgbClr val="FFFFFF">
              <a:alpha val="33096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8104826" y="5212212"/>
            <a:ext cx="54864" cy="54864"/>
          </a:xfrm>
          <a:prstGeom prst="ellipse">
            <a:avLst/>
          </a:prstGeom>
          <a:solidFill>
            <a:srgbClr val="FFFFFF">
              <a:alpha val="34125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4998999" y="386537"/>
            <a:ext cx="54864" cy="54864"/>
          </a:xfrm>
          <a:prstGeom prst="ellipse">
            <a:avLst/>
          </a:prstGeom>
          <a:solidFill>
            <a:srgbClr val="FFFFFF">
              <a:alpha val="40795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9720825" y="6565667"/>
            <a:ext cx="54864" cy="54864"/>
          </a:xfrm>
          <a:prstGeom prst="ellipse">
            <a:avLst/>
          </a:prstGeom>
          <a:solidFill>
            <a:srgbClr val="FFFFFF">
              <a:alpha val="43903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11143880" y="3414879"/>
            <a:ext cx="54864" cy="54864"/>
          </a:xfrm>
          <a:prstGeom prst="ellipse">
            <a:avLst/>
          </a:prstGeom>
          <a:solidFill>
            <a:srgbClr val="FFFFFF">
              <a:alpha val="45113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2508816" y="4050207"/>
            <a:ext cx="54864" cy="54864"/>
          </a:xfrm>
          <a:prstGeom prst="ellipse">
            <a:avLst/>
          </a:prstGeom>
          <a:solidFill>
            <a:srgbClr val="FFFFFF">
              <a:alpha val="43179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914987" y="1817961"/>
            <a:ext cx="54864" cy="54864"/>
          </a:xfrm>
          <a:prstGeom prst="ellipse">
            <a:avLst/>
          </a:prstGeom>
          <a:solidFill>
            <a:srgbClr val="FFFFFF">
              <a:alpha val="24138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6684817" y="3224798"/>
            <a:ext cx="54864" cy="54864"/>
          </a:xfrm>
          <a:prstGeom prst="ellipse">
            <a:avLst/>
          </a:prstGeom>
          <a:solidFill>
            <a:srgbClr val="FFFFFF">
              <a:alpha val="10247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880616" y="2769985"/>
            <a:ext cx="54864" cy="54864"/>
          </a:xfrm>
          <a:prstGeom prst="ellipse">
            <a:avLst/>
          </a:prstGeom>
          <a:solidFill>
            <a:srgbClr val="FFFFFF">
              <a:alpha val="37422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22843" y="14203"/>
            <a:ext cx="54864" cy="54864"/>
          </a:xfrm>
          <a:prstGeom prst="ellipse">
            <a:avLst/>
          </a:prstGeom>
          <a:solidFill>
            <a:srgbClr val="FFFFFF">
              <a:alpha val="33461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1075109" y="1557588"/>
            <a:ext cx="54864" cy="54864"/>
          </a:xfrm>
          <a:prstGeom prst="ellipse">
            <a:avLst/>
          </a:prstGeom>
          <a:solidFill>
            <a:srgbClr val="FFFFFF">
              <a:alpha val="13037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9356568" y="5141772"/>
            <a:ext cx="54864" cy="54864"/>
          </a:xfrm>
          <a:prstGeom prst="ellipse">
            <a:avLst/>
          </a:prstGeom>
          <a:solidFill>
            <a:srgbClr val="FFFFFF">
              <a:alpha val="32527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10291752" y="6485005"/>
            <a:ext cx="54864" cy="54864"/>
          </a:xfrm>
          <a:prstGeom prst="ellipse">
            <a:avLst/>
          </a:prstGeom>
          <a:solidFill>
            <a:srgbClr val="FFFFFF">
              <a:alpha val="17962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7961049" y="3844145"/>
            <a:ext cx="54864" cy="54864"/>
          </a:xfrm>
          <a:prstGeom prst="ellipse">
            <a:avLst/>
          </a:prstGeom>
          <a:solidFill>
            <a:srgbClr val="FFFFFF">
              <a:alpha val="36079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4885125" y="3335313"/>
            <a:ext cx="54864" cy="54864"/>
          </a:xfrm>
          <a:prstGeom prst="ellipse">
            <a:avLst/>
          </a:prstGeom>
          <a:solidFill>
            <a:srgbClr val="FFFFFF">
              <a:alpha val="30207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6821440" y="4856418"/>
            <a:ext cx="54864" cy="54864"/>
          </a:xfrm>
          <a:prstGeom prst="ellipse">
            <a:avLst/>
          </a:prstGeom>
          <a:solidFill>
            <a:srgbClr val="FFFFFF">
              <a:alpha val="23395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7610701" y="4905222"/>
            <a:ext cx="54864" cy="54864"/>
          </a:xfrm>
          <a:prstGeom prst="ellipse">
            <a:avLst/>
          </a:prstGeom>
          <a:solidFill>
            <a:srgbClr val="FFFFFF">
              <a:alpha val="14620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10173993" y="6659589"/>
            <a:ext cx="54864" cy="54864"/>
          </a:xfrm>
          <a:prstGeom prst="ellipse">
            <a:avLst/>
          </a:prstGeom>
          <a:solidFill>
            <a:srgbClr val="FFFFFF">
              <a:alpha val="32478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5851378" y="6449646"/>
            <a:ext cx="54864" cy="54864"/>
          </a:xfrm>
          <a:prstGeom prst="ellipse">
            <a:avLst/>
          </a:prstGeom>
          <a:solidFill>
            <a:srgbClr val="FFFFFF">
              <a:alpha val="10996"/>
            </a:srgbClr>
          </a:solidFill>
          <a:ln/>
        </p:spPr>
      </p:sp>
      <p:sp>
        <p:nvSpPr>
          <p:cNvPr id="171" name="Shape 169"/>
          <p:cNvSpPr/>
          <p:nvPr/>
        </p:nvSpPr>
        <p:spPr>
          <a:xfrm>
            <a:off x="4290908" y="508571"/>
            <a:ext cx="54864" cy="54864"/>
          </a:xfrm>
          <a:prstGeom prst="ellipse">
            <a:avLst/>
          </a:prstGeom>
          <a:solidFill>
            <a:srgbClr val="FFFFFF">
              <a:alpha val="36289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10626231" y="4765862"/>
            <a:ext cx="54864" cy="54864"/>
          </a:xfrm>
          <a:prstGeom prst="ellipse">
            <a:avLst/>
          </a:prstGeom>
          <a:solidFill>
            <a:srgbClr val="FFFFFF">
              <a:alpha val="20477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11501722" y="5297890"/>
            <a:ext cx="54864" cy="54864"/>
          </a:xfrm>
          <a:prstGeom prst="ellipse">
            <a:avLst/>
          </a:prstGeom>
          <a:solidFill>
            <a:srgbClr val="FFFFFF">
              <a:alpha val="41717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2847209" y="5375551"/>
            <a:ext cx="54864" cy="54864"/>
          </a:xfrm>
          <a:prstGeom prst="ellipse">
            <a:avLst/>
          </a:prstGeom>
          <a:solidFill>
            <a:srgbClr val="FFFFFF">
              <a:alpha val="45835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11023438" y="5387038"/>
            <a:ext cx="54864" cy="54864"/>
          </a:xfrm>
          <a:prstGeom prst="ellipse">
            <a:avLst/>
          </a:prstGeom>
          <a:solidFill>
            <a:srgbClr val="FFFFFF">
              <a:alpha val="24592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8559967" y="3598595"/>
            <a:ext cx="54864" cy="54864"/>
          </a:xfrm>
          <a:prstGeom prst="ellipse">
            <a:avLst/>
          </a:prstGeom>
          <a:solidFill>
            <a:srgbClr val="FFFFFF">
              <a:alpha val="32279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10498295" y="3784771"/>
            <a:ext cx="54864" cy="54864"/>
          </a:xfrm>
          <a:prstGeom prst="ellipse">
            <a:avLst/>
          </a:prstGeom>
          <a:solidFill>
            <a:srgbClr val="FFFFFF">
              <a:alpha val="15052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3238525" y="4618789"/>
            <a:ext cx="54864" cy="54864"/>
          </a:xfrm>
          <a:prstGeom prst="ellipse">
            <a:avLst/>
          </a:prstGeom>
          <a:solidFill>
            <a:srgbClr val="FFFFFF">
              <a:alpha val="32640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4741271" y="1241409"/>
            <a:ext cx="54864" cy="54864"/>
          </a:xfrm>
          <a:prstGeom prst="ellipse">
            <a:avLst/>
          </a:prstGeom>
          <a:solidFill>
            <a:srgbClr val="FFFFFF">
              <a:alpha val="26438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2766130" y="6054630"/>
            <a:ext cx="54864" cy="54864"/>
          </a:xfrm>
          <a:prstGeom prst="ellipse">
            <a:avLst/>
          </a:prstGeom>
          <a:solidFill>
            <a:srgbClr val="FFFFFF">
              <a:alpha val="17118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4052195" y="4593201"/>
            <a:ext cx="54864" cy="54864"/>
          </a:xfrm>
          <a:prstGeom prst="ellipse">
            <a:avLst/>
          </a:prstGeom>
          <a:solidFill>
            <a:srgbClr val="FFFFFF">
              <a:alpha val="14905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1371761" y="2054400"/>
            <a:ext cx="54864" cy="54864"/>
          </a:xfrm>
          <a:prstGeom prst="ellipse">
            <a:avLst/>
          </a:prstGeom>
          <a:solidFill>
            <a:srgbClr val="FFFFFF">
              <a:alpha val="13163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-11538" y="864495"/>
            <a:ext cx="54864" cy="54864"/>
          </a:xfrm>
          <a:prstGeom prst="ellipse">
            <a:avLst/>
          </a:prstGeom>
          <a:solidFill>
            <a:srgbClr val="FFFFFF">
              <a:alpha val="34109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233039" y="4660847"/>
            <a:ext cx="54864" cy="54864"/>
          </a:xfrm>
          <a:prstGeom prst="ellipse">
            <a:avLst/>
          </a:prstGeom>
          <a:solidFill>
            <a:srgbClr val="FFFFFF">
              <a:alpha val="14086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2060405" y="1407426"/>
            <a:ext cx="54864" cy="54864"/>
          </a:xfrm>
          <a:prstGeom prst="ellipse">
            <a:avLst/>
          </a:prstGeom>
          <a:solidFill>
            <a:srgbClr val="FFFFFF">
              <a:alpha val="12107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8419667" y="1157880"/>
            <a:ext cx="54864" cy="54864"/>
          </a:xfrm>
          <a:prstGeom prst="ellipse">
            <a:avLst/>
          </a:prstGeom>
          <a:solidFill>
            <a:srgbClr val="FFFFFF">
              <a:alpha val="45327"/>
            </a:srgb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7535500" y="80390"/>
            <a:ext cx="54864" cy="54864"/>
          </a:xfrm>
          <a:prstGeom prst="ellipse">
            <a:avLst/>
          </a:prstGeom>
          <a:solidFill>
            <a:srgbClr val="FFFFFF">
              <a:alpha val="17524"/>
            </a:srgb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7113033" y="5055088"/>
            <a:ext cx="54864" cy="54864"/>
          </a:xfrm>
          <a:prstGeom prst="ellipse">
            <a:avLst/>
          </a:prstGeom>
          <a:solidFill>
            <a:srgbClr val="FFFFFF">
              <a:alpha val="44878"/>
            </a:srgb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3971066" y="4809430"/>
            <a:ext cx="54864" cy="54864"/>
          </a:xfrm>
          <a:prstGeom prst="ellipse">
            <a:avLst/>
          </a:prstGeom>
          <a:solidFill>
            <a:srgbClr val="FFFFFF">
              <a:alpha val="11798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6585070" y="3952618"/>
            <a:ext cx="54864" cy="54864"/>
          </a:xfrm>
          <a:prstGeom prst="ellipse">
            <a:avLst/>
          </a:prstGeom>
          <a:solidFill>
            <a:srgbClr val="FFFFFF">
              <a:alpha val="18902"/>
            </a:srgb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8451667" y="4936912"/>
            <a:ext cx="54864" cy="54864"/>
          </a:xfrm>
          <a:prstGeom prst="ellipse">
            <a:avLst/>
          </a:prstGeom>
          <a:solidFill>
            <a:srgbClr val="FFFFFF">
              <a:alpha val="26098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1182697" y="279599"/>
            <a:ext cx="54864" cy="54864"/>
          </a:xfrm>
          <a:prstGeom prst="ellipse">
            <a:avLst/>
          </a:prstGeom>
          <a:solidFill>
            <a:srgbClr val="FFFFFF">
              <a:alpha val="25469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2686904" y="3904899"/>
            <a:ext cx="54864" cy="54864"/>
          </a:xfrm>
          <a:prstGeom prst="ellipse">
            <a:avLst/>
          </a:prstGeom>
          <a:solidFill>
            <a:srgbClr val="FFFFFF">
              <a:alpha val="39963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2664669" y="4167952"/>
            <a:ext cx="54864" cy="54864"/>
          </a:xfrm>
          <a:prstGeom prst="ellipse">
            <a:avLst/>
          </a:prstGeom>
          <a:solidFill>
            <a:srgbClr val="FFFFFF">
              <a:alpha val="24820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9783495" y="1593010"/>
            <a:ext cx="54864" cy="54864"/>
          </a:xfrm>
          <a:prstGeom prst="ellipse">
            <a:avLst/>
          </a:prstGeom>
          <a:solidFill>
            <a:srgbClr val="FFFFFF">
              <a:alpha val="13779"/>
            </a:srgb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609352" y="4646155"/>
            <a:ext cx="54864" cy="54864"/>
          </a:xfrm>
          <a:prstGeom prst="ellipse">
            <a:avLst/>
          </a:prstGeom>
          <a:solidFill>
            <a:srgbClr val="FFFFFF">
              <a:alpha val="33731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9531724" y="4436156"/>
            <a:ext cx="54864" cy="54864"/>
          </a:xfrm>
          <a:prstGeom prst="ellipse">
            <a:avLst/>
          </a:prstGeom>
          <a:solidFill>
            <a:srgbClr val="FFFFFF">
              <a:alpha val="17813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1235750" y="6194204"/>
            <a:ext cx="54864" cy="54864"/>
          </a:xfrm>
          <a:prstGeom prst="ellipse">
            <a:avLst/>
          </a:prstGeom>
          <a:solidFill>
            <a:srgbClr val="FFFFFF">
              <a:alpha val="29966"/>
            </a:srgb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9905715" y="2847910"/>
            <a:ext cx="54864" cy="54864"/>
          </a:xfrm>
          <a:prstGeom prst="ellipse">
            <a:avLst/>
          </a:prstGeom>
          <a:solidFill>
            <a:srgbClr val="FFFFFF">
              <a:alpha val="15348"/>
            </a:srgb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9515254" y="4892750"/>
            <a:ext cx="54864" cy="54864"/>
          </a:xfrm>
          <a:prstGeom prst="ellipse">
            <a:avLst/>
          </a:prstGeom>
          <a:solidFill>
            <a:srgbClr val="FFFFFF">
              <a:alpha val="13687"/>
            </a:srgb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10330696" y="1259982"/>
            <a:ext cx="54864" cy="54864"/>
          </a:xfrm>
          <a:prstGeom prst="ellipse">
            <a:avLst/>
          </a:prstGeom>
          <a:solidFill>
            <a:srgbClr val="FFFFFF">
              <a:alpha val="21212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1838432" y="820028"/>
            <a:ext cx="54864" cy="54864"/>
          </a:xfrm>
          <a:prstGeom prst="ellipse">
            <a:avLst/>
          </a:prstGeom>
          <a:solidFill>
            <a:srgbClr val="FFFFFF">
              <a:alpha val="12054"/>
            </a:srgb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11496889" y="354670"/>
            <a:ext cx="54864" cy="54864"/>
          </a:xfrm>
          <a:prstGeom prst="ellipse">
            <a:avLst/>
          </a:prstGeom>
          <a:solidFill>
            <a:srgbClr val="FFFFFF">
              <a:alpha val="46922"/>
            </a:srgb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3134575" y="6338082"/>
            <a:ext cx="54864" cy="54864"/>
          </a:xfrm>
          <a:prstGeom prst="ellipse">
            <a:avLst/>
          </a:prstGeom>
          <a:solidFill>
            <a:srgbClr val="FFFFFF">
              <a:alpha val="15210"/>
            </a:srgbClr>
          </a:solidFill>
          <a:ln/>
        </p:spPr>
      </p:sp>
      <p:sp>
        <p:nvSpPr>
          <p:cNvPr id="205" name="Shape 203"/>
          <p:cNvSpPr/>
          <p:nvPr/>
        </p:nvSpPr>
        <p:spPr>
          <a:xfrm>
            <a:off x="11518592" y="1847171"/>
            <a:ext cx="54864" cy="54864"/>
          </a:xfrm>
          <a:prstGeom prst="ellipse">
            <a:avLst/>
          </a:prstGeom>
          <a:solidFill>
            <a:srgbClr val="FFFFFF">
              <a:alpha val="42070"/>
            </a:srgbClr>
          </a:solidFill>
          <a:ln/>
        </p:spPr>
      </p:sp>
      <p:sp>
        <p:nvSpPr>
          <p:cNvPr id="206" name="Shape 204"/>
          <p:cNvSpPr/>
          <p:nvPr/>
        </p:nvSpPr>
        <p:spPr>
          <a:xfrm>
            <a:off x="331984" y="3151752"/>
            <a:ext cx="54864" cy="54864"/>
          </a:xfrm>
          <a:prstGeom prst="ellipse">
            <a:avLst/>
          </a:prstGeom>
          <a:solidFill>
            <a:srgbClr val="FFFFFF">
              <a:alpha val="27623"/>
            </a:srgbClr>
          </a:solidFill>
          <a:ln/>
        </p:spPr>
      </p:sp>
      <p:sp>
        <p:nvSpPr>
          <p:cNvPr id="207" name="Shape 205"/>
          <p:cNvSpPr/>
          <p:nvPr/>
        </p:nvSpPr>
        <p:spPr>
          <a:xfrm>
            <a:off x="1681298" y="2158900"/>
            <a:ext cx="54864" cy="54864"/>
          </a:xfrm>
          <a:prstGeom prst="ellipse">
            <a:avLst/>
          </a:prstGeom>
          <a:solidFill>
            <a:srgbClr val="FFFFFF">
              <a:alpha val="30762"/>
            </a:srgbClr>
          </a:solidFill>
          <a:ln/>
        </p:spPr>
      </p:sp>
      <p:sp>
        <p:nvSpPr>
          <p:cNvPr id="208" name="Shape 206"/>
          <p:cNvSpPr/>
          <p:nvPr/>
        </p:nvSpPr>
        <p:spPr>
          <a:xfrm>
            <a:off x="2709507" y="344592"/>
            <a:ext cx="54864" cy="54864"/>
          </a:xfrm>
          <a:prstGeom prst="ellipse">
            <a:avLst/>
          </a:prstGeom>
          <a:solidFill>
            <a:srgbClr val="FFFFFF">
              <a:alpha val="48224"/>
            </a:srgbClr>
          </a:solidFill>
          <a:ln/>
        </p:spPr>
      </p:sp>
      <p:sp>
        <p:nvSpPr>
          <p:cNvPr id="209" name="Shape 207"/>
          <p:cNvSpPr/>
          <p:nvPr/>
        </p:nvSpPr>
        <p:spPr>
          <a:xfrm>
            <a:off x="1101246" y="4231095"/>
            <a:ext cx="54864" cy="54864"/>
          </a:xfrm>
          <a:prstGeom prst="ellipse">
            <a:avLst/>
          </a:prstGeom>
          <a:solidFill>
            <a:srgbClr val="FFFFFF">
              <a:alpha val="31282"/>
            </a:srgbClr>
          </a:solidFill>
          <a:ln/>
        </p:spPr>
      </p:sp>
      <p:sp>
        <p:nvSpPr>
          <p:cNvPr id="210" name="Shape 208"/>
          <p:cNvSpPr/>
          <p:nvPr/>
        </p:nvSpPr>
        <p:spPr>
          <a:xfrm>
            <a:off x="9727112" y="4899435"/>
            <a:ext cx="54864" cy="54864"/>
          </a:xfrm>
          <a:prstGeom prst="ellipse">
            <a:avLst/>
          </a:prstGeom>
          <a:solidFill>
            <a:srgbClr val="FFFFFF">
              <a:alpha val="29569"/>
            </a:srgbClr>
          </a:solidFill>
          <a:ln/>
        </p:spPr>
      </p:sp>
      <p:sp>
        <p:nvSpPr>
          <p:cNvPr id="211" name="Shape 209"/>
          <p:cNvSpPr/>
          <p:nvPr/>
        </p:nvSpPr>
        <p:spPr>
          <a:xfrm>
            <a:off x="8426283" y="2598194"/>
            <a:ext cx="54864" cy="54864"/>
          </a:xfrm>
          <a:prstGeom prst="ellipse">
            <a:avLst/>
          </a:prstGeom>
          <a:solidFill>
            <a:srgbClr val="FFFFFF">
              <a:alpha val="25465"/>
            </a:srgbClr>
          </a:solidFill>
          <a:ln/>
        </p:spPr>
      </p:sp>
      <p:sp>
        <p:nvSpPr>
          <p:cNvPr id="212" name="Shape 210"/>
          <p:cNvSpPr/>
          <p:nvPr/>
        </p:nvSpPr>
        <p:spPr>
          <a:xfrm>
            <a:off x="11623079" y="5187076"/>
            <a:ext cx="54864" cy="54864"/>
          </a:xfrm>
          <a:prstGeom prst="ellipse">
            <a:avLst/>
          </a:prstGeom>
          <a:solidFill>
            <a:srgbClr val="FFFFFF">
              <a:alpha val="11519"/>
            </a:srgbClr>
          </a:solidFill>
          <a:ln/>
        </p:spPr>
      </p:sp>
      <p:sp>
        <p:nvSpPr>
          <p:cNvPr id="213" name="Shape 211"/>
          <p:cNvSpPr/>
          <p:nvPr/>
        </p:nvSpPr>
        <p:spPr>
          <a:xfrm>
            <a:off x="8560734" y="4055292"/>
            <a:ext cx="54864" cy="54864"/>
          </a:xfrm>
          <a:prstGeom prst="ellipse">
            <a:avLst/>
          </a:prstGeom>
          <a:solidFill>
            <a:srgbClr val="FFFFFF">
              <a:alpha val="17892"/>
            </a:srgbClr>
          </a:solidFill>
          <a:ln/>
        </p:spPr>
      </p:sp>
      <p:sp>
        <p:nvSpPr>
          <p:cNvPr id="214" name="Shape 212"/>
          <p:cNvSpPr/>
          <p:nvPr/>
        </p:nvSpPr>
        <p:spPr>
          <a:xfrm>
            <a:off x="2038755" y="415322"/>
            <a:ext cx="54864" cy="54864"/>
          </a:xfrm>
          <a:prstGeom prst="ellipse">
            <a:avLst/>
          </a:prstGeom>
          <a:solidFill>
            <a:srgbClr val="FFFFFF">
              <a:alpha val="20937"/>
            </a:srgbClr>
          </a:solidFill>
          <a:ln/>
        </p:spPr>
      </p:sp>
      <p:sp>
        <p:nvSpPr>
          <p:cNvPr id="215" name="Shape 213"/>
          <p:cNvSpPr/>
          <p:nvPr/>
        </p:nvSpPr>
        <p:spPr>
          <a:xfrm>
            <a:off x="7778536" y="2890054"/>
            <a:ext cx="54864" cy="54864"/>
          </a:xfrm>
          <a:prstGeom prst="ellipse">
            <a:avLst/>
          </a:prstGeom>
          <a:solidFill>
            <a:srgbClr val="FFFFFF">
              <a:alpha val="28208"/>
            </a:srgbClr>
          </a:solidFill>
          <a:ln/>
        </p:spPr>
      </p:sp>
      <p:sp>
        <p:nvSpPr>
          <p:cNvPr id="216" name="Shape 214"/>
          <p:cNvSpPr/>
          <p:nvPr/>
        </p:nvSpPr>
        <p:spPr>
          <a:xfrm>
            <a:off x="4643104" y="3318254"/>
            <a:ext cx="54864" cy="54864"/>
          </a:xfrm>
          <a:prstGeom prst="ellipse">
            <a:avLst/>
          </a:prstGeom>
          <a:solidFill>
            <a:srgbClr val="FFFFFF">
              <a:alpha val="45123"/>
            </a:srgbClr>
          </a:solidFill>
          <a:ln/>
        </p:spPr>
      </p:sp>
      <p:sp>
        <p:nvSpPr>
          <p:cNvPr id="217" name="Shape 215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50B1A">
              <a:alpha val="85000"/>
            </a:srgbClr>
          </a:solidFill>
          <a:ln/>
        </p:spPr>
      </p:sp>
      <p:sp>
        <p:nvSpPr>
          <p:cNvPr id="218" name="Shape 216"/>
          <p:cNvSpPr/>
          <p:nvPr/>
        </p:nvSpPr>
        <p:spPr>
          <a:xfrm>
            <a:off x="0" y="0"/>
            <a:ext cx="4681728" cy="6858000"/>
          </a:xfrm>
          <a:prstGeom prst="rect">
            <a:avLst/>
          </a:prstGeom>
          <a:solidFill>
            <a:srgbClr val="050B1A">
              <a:alpha val="71000"/>
            </a:srgbClr>
          </a:solidFill>
          <a:ln/>
        </p:spPr>
      </p:sp>
      <p:sp>
        <p:nvSpPr>
          <p:cNvPr id="219" name="Shape 217"/>
          <p:cNvSpPr/>
          <p:nvPr/>
        </p:nvSpPr>
        <p:spPr>
          <a:xfrm>
            <a:off x="0" y="0"/>
            <a:ext cx="3511296" cy="6858000"/>
          </a:xfrm>
          <a:prstGeom prst="rect">
            <a:avLst/>
          </a:prstGeom>
          <a:solidFill>
            <a:srgbClr val="050B1A">
              <a:alpha val="57000"/>
            </a:srgbClr>
          </a:solidFill>
          <a:ln/>
        </p:spPr>
      </p:sp>
      <p:sp>
        <p:nvSpPr>
          <p:cNvPr id="220" name="Shape 218"/>
          <p:cNvSpPr/>
          <p:nvPr/>
        </p:nvSpPr>
        <p:spPr>
          <a:xfrm>
            <a:off x="0" y="0"/>
            <a:ext cx="2340864" cy="6858000"/>
          </a:xfrm>
          <a:prstGeom prst="rect">
            <a:avLst/>
          </a:prstGeom>
          <a:solidFill>
            <a:srgbClr val="050B1A">
              <a:alpha val="43000"/>
            </a:srgbClr>
          </a:solidFill>
          <a:ln/>
        </p:spPr>
      </p:sp>
      <p:sp>
        <p:nvSpPr>
          <p:cNvPr id="221" name="Shape 219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050B1A">
              <a:alpha val="29000"/>
            </a:srgbClr>
          </a:solidFill>
          <a:ln/>
        </p:spPr>
      </p:sp>
      <p:sp>
        <p:nvSpPr>
          <p:cNvPr id="222" name="Text 220"/>
          <p:cNvSpPr txBox="1"/>
          <p:nvPr/>
        </p:nvSpPr>
        <p:spPr>
          <a:xfrm>
            <a:off x="548640" y="3657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destination has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thousand possible paths.</a:t>
            </a:r>
            <a:endParaRPr lang="en-US" sz="3400" dirty="0"/>
          </a:p>
        </p:txBody>
      </p:sp>
      <p:sp>
        <p:nvSpPr>
          <p:cNvPr id="223" name="Text 221"/>
          <p:cNvSpPr txBox="1"/>
          <p:nvPr/>
        </p:nvSpPr>
        <p:spPr>
          <a:xfrm>
            <a:off x="640080" y="2331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224" name="Text 222"/>
          <p:cNvSpPr txBox="1"/>
          <p:nvPr/>
        </p:nvSpPr>
        <p:spPr>
          <a:xfrm>
            <a:off x="1554480" y="2423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form networks.</a:t>
            </a:r>
            <a:endParaRPr lang="en-US" sz="1800" dirty="0"/>
          </a:p>
        </p:txBody>
      </p:sp>
      <p:sp>
        <p:nvSpPr>
          <p:cNvPr id="225" name="Text 223"/>
          <p:cNvSpPr txBox="1"/>
          <p:nvPr/>
        </p:nvSpPr>
        <p:spPr>
          <a:xfrm>
            <a:off x="640080" y="3291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226" name="Text 224"/>
          <p:cNvSpPr txBox="1"/>
          <p:nvPr/>
        </p:nvSpPr>
        <p:spPr>
          <a:xfrm>
            <a:off x="1554480" y="3383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carry weights.</a:t>
            </a:r>
            <a:endParaRPr lang="en-US" sz="1800" dirty="0"/>
          </a:p>
        </p:txBody>
      </p:sp>
      <p:sp>
        <p:nvSpPr>
          <p:cNvPr id="227" name="Text 225"/>
          <p:cNvSpPr txBox="1"/>
          <p:nvPr/>
        </p:nvSpPr>
        <p:spPr>
          <a:xfrm>
            <a:off x="640080" y="4251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28" name="Text 226"/>
          <p:cNvSpPr txBox="1"/>
          <p:nvPr/>
        </p:nvSpPr>
        <p:spPr>
          <a:xfrm>
            <a:off x="1554480" y="43434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to minimize total path cost.</a:t>
            </a:r>
            <a:endParaRPr lang="en-US" sz="1800" dirty="0"/>
          </a:p>
        </p:txBody>
      </p:sp>
      <p:sp>
        <p:nvSpPr>
          <p:cNvPr id="229" name="Shape 227"/>
          <p:cNvSpPr/>
          <p:nvPr/>
        </p:nvSpPr>
        <p:spPr>
          <a:xfrm flipV="1">
            <a:off x="6035040" y="2468880"/>
            <a:ext cx="2560320" cy="2286000"/>
          </a:xfrm>
          <a:prstGeom prst="line">
            <a:avLst/>
          </a:prstGeom>
          <a:noFill/>
          <a:ln w="38100">
            <a:solidFill>
              <a:srgbClr val="8B5CF6"/>
            </a:solidFill>
            <a:prstDash val="dash"/>
          </a:ln>
        </p:spPr>
      </p:sp>
      <p:sp>
        <p:nvSpPr>
          <p:cNvPr id="230" name="Shape 228"/>
          <p:cNvSpPr/>
          <p:nvPr/>
        </p:nvSpPr>
        <p:spPr>
          <a:xfrm flipV="1">
            <a:off x="8595360" y="1463040"/>
            <a:ext cx="2560320" cy="1005840"/>
          </a:xfrm>
          <a:prstGeom prst="line">
            <a:avLst/>
          </a:prstGeom>
          <a:noFill/>
          <a:ln w="38100">
            <a:solidFill>
              <a:srgbClr val="8B5CF6"/>
            </a:solidFill>
            <a:prstDash val="dash"/>
          </a:ln>
        </p:spPr>
      </p:sp>
      <p:sp>
        <p:nvSpPr>
          <p:cNvPr id="231" name="Shape 229"/>
          <p:cNvSpPr/>
          <p:nvPr/>
        </p:nvSpPr>
        <p:spPr>
          <a:xfrm>
            <a:off x="6035040" y="4754880"/>
            <a:ext cx="914400" cy="457200"/>
          </a:xfrm>
          <a:prstGeom prst="line">
            <a:avLst/>
          </a:prstGeom>
          <a:noFill/>
          <a:ln w="31750">
            <a:solidFill>
              <a:srgbClr val="9AA7BD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flipV="1">
            <a:off x="6949440" y="5029200"/>
            <a:ext cx="1828800" cy="182880"/>
          </a:xfrm>
          <a:prstGeom prst="line">
            <a:avLst/>
          </a:prstGeom>
          <a:noFill/>
          <a:ln w="31750">
            <a:solidFill>
              <a:srgbClr val="9AA7BD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flipV="1">
            <a:off x="8778240" y="4206240"/>
            <a:ext cx="914400" cy="822960"/>
          </a:xfrm>
          <a:prstGeom prst="line">
            <a:avLst/>
          </a:prstGeom>
          <a:noFill/>
          <a:ln w="31750">
            <a:solidFill>
              <a:srgbClr val="9AA7BD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flipV="1">
            <a:off x="9692640" y="4023360"/>
            <a:ext cx="1645920" cy="182880"/>
          </a:xfrm>
          <a:prstGeom prst="line">
            <a:avLst/>
          </a:prstGeom>
          <a:noFill/>
          <a:ln w="31750">
            <a:solidFill>
              <a:srgbClr val="9AA7BD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155680" y="1463040"/>
            <a:ext cx="182880" cy="2560320"/>
          </a:xfrm>
          <a:prstGeom prst="line">
            <a:avLst/>
          </a:prstGeom>
          <a:noFill/>
          <a:ln w="31750">
            <a:solidFill>
              <a:srgbClr val="9AA7BD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flipV="1">
            <a:off x="6035040" y="3840480"/>
            <a:ext cx="1188720" cy="91440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flipV="1">
            <a:off x="7223760" y="3566160"/>
            <a:ext cx="1737360" cy="27432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flipV="1">
            <a:off x="8961120" y="2286000"/>
            <a:ext cx="1097280" cy="128016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flipV="1">
            <a:off x="10058400" y="1463040"/>
            <a:ext cx="1097280" cy="82296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 flipV="1">
            <a:off x="6035040" y="3840480"/>
            <a:ext cx="1188720" cy="91440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flipV="1">
            <a:off x="7223760" y="3566160"/>
            <a:ext cx="1737360" cy="27432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flipV="1">
            <a:off x="8961120" y="2286000"/>
            <a:ext cx="1097280" cy="128016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 flipV="1">
            <a:off x="10058400" y="1463040"/>
            <a:ext cx="1097280" cy="82296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 flipV="1">
            <a:off x="6035040" y="3840480"/>
            <a:ext cx="1188720" cy="91440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 flipV="1">
            <a:off x="7223760" y="3566160"/>
            <a:ext cx="1737360" cy="27432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flipV="1">
            <a:off x="8961120" y="2286000"/>
            <a:ext cx="1097280" cy="128016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flipV="1">
            <a:off x="10058400" y="1463040"/>
            <a:ext cx="1097280" cy="82296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513064" y="2386584"/>
            <a:ext cx="164592" cy="164592"/>
          </a:xfrm>
          <a:prstGeom prst="ellipse">
            <a:avLst/>
          </a:prstGeom>
          <a:solidFill>
            <a:srgbClr val="B79CFF"/>
          </a:solidFill>
          <a:ln/>
        </p:spPr>
      </p:sp>
      <p:sp>
        <p:nvSpPr>
          <p:cNvPr id="249" name="Shape 247"/>
          <p:cNvSpPr/>
          <p:nvPr/>
        </p:nvSpPr>
        <p:spPr>
          <a:xfrm>
            <a:off x="6867144" y="5129784"/>
            <a:ext cx="164592" cy="164592"/>
          </a:xfrm>
          <a:prstGeom prst="ellipse">
            <a:avLst/>
          </a:prstGeom>
          <a:solidFill>
            <a:srgbClr val="9AA7BD"/>
          </a:solidFill>
          <a:ln/>
        </p:spPr>
      </p:sp>
      <p:sp>
        <p:nvSpPr>
          <p:cNvPr id="250" name="Shape 248"/>
          <p:cNvSpPr/>
          <p:nvPr/>
        </p:nvSpPr>
        <p:spPr>
          <a:xfrm>
            <a:off x="8695944" y="4946904"/>
            <a:ext cx="164592" cy="164592"/>
          </a:xfrm>
          <a:prstGeom prst="ellipse">
            <a:avLst/>
          </a:prstGeom>
          <a:solidFill>
            <a:srgbClr val="9AA7BD"/>
          </a:solidFill>
          <a:ln/>
        </p:spPr>
      </p:sp>
      <p:sp>
        <p:nvSpPr>
          <p:cNvPr id="251" name="Shape 249"/>
          <p:cNvSpPr/>
          <p:nvPr/>
        </p:nvSpPr>
        <p:spPr>
          <a:xfrm>
            <a:off x="9610344" y="4123944"/>
            <a:ext cx="164592" cy="164592"/>
          </a:xfrm>
          <a:prstGeom prst="ellipse">
            <a:avLst/>
          </a:prstGeom>
          <a:solidFill>
            <a:srgbClr val="9AA7BD"/>
          </a:solidFill>
          <a:ln/>
        </p:spPr>
      </p:sp>
      <p:sp>
        <p:nvSpPr>
          <p:cNvPr id="252" name="Shape 250"/>
          <p:cNvSpPr/>
          <p:nvPr/>
        </p:nvSpPr>
        <p:spPr>
          <a:xfrm>
            <a:off x="11256264" y="3941064"/>
            <a:ext cx="164592" cy="164592"/>
          </a:xfrm>
          <a:prstGeom prst="ellipse">
            <a:avLst/>
          </a:prstGeom>
          <a:solidFill>
            <a:srgbClr val="9AA7BD"/>
          </a:solidFill>
          <a:ln/>
        </p:spPr>
      </p:sp>
      <p:sp>
        <p:nvSpPr>
          <p:cNvPr id="253" name="Shape 251"/>
          <p:cNvSpPr/>
          <p:nvPr/>
        </p:nvSpPr>
        <p:spPr>
          <a:xfrm>
            <a:off x="7141464" y="3758184"/>
            <a:ext cx="164592" cy="164592"/>
          </a:xfrm>
          <a:prstGeom prst="ellipse">
            <a:avLst/>
          </a:prstGeom>
          <a:solidFill>
            <a:srgbClr val="22E6FF"/>
          </a:solidFill>
          <a:ln/>
        </p:spPr>
      </p:sp>
      <p:sp>
        <p:nvSpPr>
          <p:cNvPr id="254" name="Shape 252"/>
          <p:cNvSpPr/>
          <p:nvPr/>
        </p:nvSpPr>
        <p:spPr>
          <a:xfrm>
            <a:off x="8878824" y="3483864"/>
            <a:ext cx="164592" cy="164592"/>
          </a:xfrm>
          <a:prstGeom prst="ellipse">
            <a:avLst/>
          </a:prstGeom>
          <a:solidFill>
            <a:srgbClr val="22E6FF"/>
          </a:solidFill>
          <a:ln/>
        </p:spPr>
      </p:sp>
      <p:sp>
        <p:nvSpPr>
          <p:cNvPr id="255" name="Shape 253"/>
          <p:cNvSpPr/>
          <p:nvPr/>
        </p:nvSpPr>
        <p:spPr>
          <a:xfrm>
            <a:off x="9976104" y="2203704"/>
            <a:ext cx="164592" cy="164592"/>
          </a:xfrm>
          <a:prstGeom prst="ellipse">
            <a:avLst/>
          </a:prstGeom>
          <a:solidFill>
            <a:srgbClr val="22E6FF"/>
          </a:solidFill>
          <a:ln/>
        </p:spPr>
      </p:sp>
      <p:sp>
        <p:nvSpPr>
          <p:cNvPr id="256" name="Text 254"/>
          <p:cNvSpPr/>
          <p:nvPr/>
        </p:nvSpPr>
        <p:spPr>
          <a:xfrm>
            <a:off x="8394192" y="2267712"/>
            <a:ext cx="402336" cy="402336"/>
          </a:xfrm>
          <a:prstGeom prst="ellipse">
            <a:avLst/>
          </a:prstGeom>
          <a:solidFill>
            <a:srgbClr val="050B1A"/>
          </a:solidFill>
          <a:ln w="2540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57" name="Text 255"/>
          <p:cNvSpPr/>
          <p:nvPr/>
        </p:nvSpPr>
        <p:spPr>
          <a:xfrm>
            <a:off x="9491472" y="4005072"/>
            <a:ext cx="402336" cy="402336"/>
          </a:xfrm>
          <a:prstGeom prst="ellipse">
            <a:avLst/>
          </a:prstGeom>
          <a:solidFill>
            <a:srgbClr val="050B1A"/>
          </a:solidFill>
          <a:ln w="2540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58" name="Text 256"/>
          <p:cNvSpPr/>
          <p:nvPr/>
        </p:nvSpPr>
        <p:spPr>
          <a:xfrm>
            <a:off x="8759952" y="3364992"/>
            <a:ext cx="402336" cy="402336"/>
          </a:xfrm>
          <a:prstGeom prst="ellipse">
            <a:avLst/>
          </a:prstGeom>
          <a:solidFill>
            <a:srgbClr val="050B1A"/>
          </a:solidFill>
          <a:ln w="2540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59" name="Shape 257"/>
          <p:cNvSpPr/>
          <p:nvPr/>
        </p:nvSpPr>
        <p:spPr>
          <a:xfrm>
            <a:off x="5852160" y="4572000"/>
            <a:ext cx="365760" cy="365760"/>
          </a:xfrm>
          <a:prstGeom prst="ellipse">
            <a:avLst/>
          </a:prstGeom>
          <a:solidFill>
            <a:srgbClr val="0D1733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0515600" y="822960"/>
            <a:ext cx="1280160" cy="1280160"/>
          </a:xfrm>
          <a:prstGeom prst="ellipse">
            <a:avLst/>
          </a:prstGeom>
          <a:solidFill>
            <a:srgbClr val="FFB224">
              <a:alpha val="18000"/>
            </a:srgbClr>
          </a:solidFill>
          <a:ln/>
        </p:spPr>
      </p:sp>
      <p:sp>
        <p:nvSpPr>
          <p:cNvPr id="261" name="Shape 259"/>
          <p:cNvSpPr/>
          <p:nvPr/>
        </p:nvSpPr>
        <p:spPr>
          <a:xfrm>
            <a:off x="10744200" y="1051560"/>
            <a:ext cx="822960" cy="822960"/>
          </a:xfrm>
          <a:prstGeom prst="ellipse">
            <a:avLst/>
          </a:prstGeom>
          <a:solidFill>
            <a:srgbClr val="FFB224">
              <a:alpha val="38000"/>
            </a:srgbClr>
          </a:solidFill>
          <a:ln/>
        </p:spPr>
      </p:sp>
      <p:sp>
        <p:nvSpPr>
          <p:cNvPr id="262" name="Shape 260"/>
          <p:cNvSpPr/>
          <p:nvPr/>
        </p:nvSpPr>
        <p:spPr>
          <a:xfrm>
            <a:off x="10927080" y="1234440"/>
            <a:ext cx="457200" cy="457200"/>
          </a:xfrm>
          <a:prstGeom prst="ellipse">
            <a:avLst/>
          </a:prstGeom>
          <a:solidFill>
            <a:srgbClr val="FFB224">
              <a:alpha val="58000"/>
            </a:srgbClr>
          </a:solidFill>
          <a:ln/>
        </p:spPr>
      </p:sp>
      <p:sp>
        <p:nvSpPr>
          <p:cNvPr id="263" name="Shape 261"/>
          <p:cNvSpPr/>
          <p:nvPr/>
        </p:nvSpPr>
        <p:spPr>
          <a:xfrm>
            <a:off x="11045952" y="1353312"/>
            <a:ext cx="219456" cy="219456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264" name="Text 262"/>
          <p:cNvSpPr txBox="1"/>
          <p:nvPr/>
        </p:nvSpPr>
        <p:spPr>
          <a:xfrm>
            <a:off x="5577840" y="4983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265" name="Text 263"/>
          <p:cNvSpPr txBox="1"/>
          <p:nvPr/>
        </p:nvSpPr>
        <p:spPr>
          <a:xfrm>
            <a:off x="10424160" y="2148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266" name="Shape 264"/>
          <p:cNvSpPr/>
          <p:nvPr/>
        </p:nvSpPr>
        <p:spPr>
          <a:xfrm>
            <a:off x="6035040" y="56235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D1733">
              <a:alpha val="90000"/>
            </a:srgbClr>
          </a:solidFill>
          <a:ln w="15240">
            <a:solidFill>
              <a:srgbClr val="B79CFF"/>
            </a:solidFill>
            <a:prstDash val="solid"/>
          </a:ln>
        </p:spPr>
      </p:sp>
      <p:sp>
        <p:nvSpPr>
          <p:cNvPr id="267" name="Text 265"/>
          <p:cNvSpPr txBox="1"/>
          <p:nvPr/>
        </p:nvSpPr>
        <p:spPr>
          <a:xfrm>
            <a:off x="6144768" y="5687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</a:t>
            </a:r>
            <a:endParaRPr lang="en-US" sz="1100" dirty="0"/>
          </a:p>
        </p:txBody>
      </p:sp>
      <p:sp>
        <p:nvSpPr>
          <p:cNvPr id="268" name="Text 266"/>
          <p:cNvSpPr txBox="1"/>
          <p:nvPr/>
        </p:nvSpPr>
        <p:spPr>
          <a:xfrm>
            <a:off x="6144768" y="5916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distance, higher total cost</a:t>
            </a:r>
            <a:endParaRPr lang="en-US" sz="1200" dirty="0"/>
          </a:p>
        </p:txBody>
      </p:sp>
      <p:sp>
        <p:nvSpPr>
          <p:cNvPr id="269" name="Shape 267"/>
          <p:cNvSpPr/>
          <p:nvPr/>
        </p:nvSpPr>
        <p:spPr>
          <a:xfrm>
            <a:off x="7955280" y="56235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D1733">
              <a:alpha val="90000"/>
            </a:srgbClr>
          </a:solidFill>
          <a:ln w="15240">
            <a:solidFill>
              <a:srgbClr val="9AA7BD"/>
            </a:solidFill>
            <a:prstDash val="solid"/>
          </a:ln>
        </p:spPr>
      </p:sp>
      <p:sp>
        <p:nvSpPr>
          <p:cNvPr id="270" name="Text 268"/>
          <p:cNvSpPr txBox="1"/>
          <p:nvPr/>
        </p:nvSpPr>
        <p:spPr>
          <a:xfrm>
            <a:off x="8065008" y="5687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</a:t>
            </a:r>
            <a:endParaRPr lang="en-US" sz="1100" dirty="0"/>
          </a:p>
        </p:txBody>
      </p:sp>
      <p:sp>
        <p:nvSpPr>
          <p:cNvPr id="271" name="Text 269"/>
          <p:cNvSpPr txBox="1"/>
          <p:nvPr/>
        </p:nvSpPr>
        <p:spPr>
          <a:xfrm>
            <a:off x="8065008" y="5916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Longer, with several connections</a:t>
            </a:r>
            <a:endParaRPr lang="en-US" sz="1200" dirty="0"/>
          </a:p>
        </p:txBody>
      </p:sp>
      <p:sp>
        <p:nvSpPr>
          <p:cNvPr id="272" name="Shape 270"/>
          <p:cNvSpPr/>
          <p:nvPr/>
        </p:nvSpPr>
        <p:spPr>
          <a:xfrm>
            <a:off x="9875520" y="56235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D1733">
              <a:alpha val="90000"/>
            </a:srgbClr>
          </a:solidFill>
          <a:ln w="15240">
            <a:solidFill>
              <a:srgbClr val="22E6FF"/>
            </a:solidFill>
            <a:prstDash val="solid"/>
          </a:ln>
        </p:spPr>
      </p:sp>
      <p:sp>
        <p:nvSpPr>
          <p:cNvPr id="273" name="Text 271"/>
          <p:cNvSpPr txBox="1"/>
          <p:nvPr/>
        </p:nvSpPr>
        <p:spPr>
          <a:xfrm>
            <a:off x="9985248" y="5687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</a:t>
            </a:r>
            <a:endParaRPr lang="en-US" sz="1100" dirty="0"/>
          </a:p>
        </p:txBody>
      </p:sp>
      <p:sp>
        <p:nvSpPr>
          <p:cNvPr id="274" name="Text 272"/>
          <p:cNvSpPr txBox="1"/>
          <p:nvPr/>
        </p:nvSpPr>
        <p:spPr>
          <a:xfrm>
            <a:off x="9985248" y="5916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total cost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world into a graph.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212080" cy="3703320"/>
          </a:xfrm>
          <a:prstGeom prst="roundRect">
            <a:avLst>
              <a:gd name="adj" fmla="val 1975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0" y="1325880"/>
            <a:ext cx="5303520" cy="3703320"/>
          </a:xfrm>
          <a:prstGeom prst="roundRect">
            <a:avLst>
              <a:gd name="adj" fmla="val 1975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 |  ROAD NETWORK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444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|  WEIGHTED GRAPH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V="1">
            <a:off x="868680" y="2304288"/>
            <a:ext cx="1177747" cy="1124712"/>
          </a:xfrm>
          <a:prstGeom prst="line">
            <a:avLst/>
          </a:prstGeom>
          <a:noFill/>
          <a:ln w="139700">
            <a:solidFill>
              <a:srgbClr val="1E2A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68680" y="2304288"/>
            <a:ext cx="1177747" cy="1124712"/>
          </a:xfrm>
          <a:prstGeom prst="line">
            <a:avLst/>
          </a:prstGeom>
          <a:noFill/>
          <a:ln w="12700">
            <a:solidFill>
              <a:srgbClr val="9AA7BD">
                <a:alpha val="70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68680" y="3429000"/>
            <a:ext cx="1345997" cy="960120"/>
          </a:xfrm>
          <a:prstGeom prst="line">
            <a:avLst/>
          </a:prstGeom>
          <a:noFill/>
          <a:ln w="139700">
            <a:solidFill>
              <a:srgbClr val="1E2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29000"/>
            <a:ext cx="1345997" cy="960120"/>
          </a:xfrm>
          <a:prstGeom prst="line">
            <a:avLst/>
          </a:prstGeom>
          <a:noFill/>
          <a:ln w="12700">
            <a:solidFill>
              <a:srgbClr val="9AA7BD">
                <a:alpha val="70000"/>
              </a:srgb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046427" y="2304288"/>
            <a:ext cx="168250" cy="2084832"/>
          </a:xfrm>
          <a:prstGeom prst="line">
            <a:avLst/>
          </a:prstGeom>
          <a:noFill/>
          <a:ln w="139700">
            <a:solidFill>
              <a:srgbClr val="1E2A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46427" y="2304288"/>
            <a:ext cx="168250" cy="2084832"/>
          </a:xfrm>
          <a:prstGeom prst="line">
            <a:avLst/>
          </a:prstGeom>
          <a:noFill/>
          <a:ln w="12700">
            <a:solidFill>
              <a:srgbClr val="9AA7BD">
                <a:alpha val="70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046427" y="2304288"/>
            <a:ext cx="1430122" cy="329184"/>
          </a:xfrm>
          <a:prstGeom prst="line">
            <a:avLst/>
          </a:prstGeom>
          <a:noFill/>
          <a:ln w="139700">
            <a:solidFill>
              <a:srgbClr val="1E2A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6427" y="2304288"/>
            <a:ext cx="1430122" cy="329184"/>
          </a:xfrm>
          <a:prstGeom prst="line">
            <a:avLst/>
          </a:prstGeom>
          <a:noFill/>
          <a:ln w="12700">
            <a:solidFill>
              <a:srgbClr val="9AA7BD">
                <a:alpha val="70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V="1">
            <a:off x="2214677" y="2633472"/>
            <a:ext cx="1261872" cy="1755648"/>
          </a:xfrm>
          <a:prstGeom prst="line">
            <a:avLst/>
          </a:prstGeom>
          <a:noFill/>
          <a:ln w="139700">
            <a:solidFill>
              <a:srgbClr val="1E2A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214677" y="2633472"/>
            <a:ext cx="1261872" cy="1755648"/>
          </a:xfrm>
          <a:prstGeom prst="line">
            <a:avLst/>
          </a:prstGeom>
          <a:noFill/>
          <a:ln w="12700">
            <a:solidFill>
              <a:srgbClr val="9AA7BD">
                <a:alpha val="70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2214677" y="4224528"/>
            <a:ext cx="1514246" cy="164592"/>
          </a:xfrm>
          <a:prstGeom prst="line">
            <a:avLst/>
          </a:prstGeom>
          <a:noFill/>
          <a:ln w="139700">
            <a:solidFill>
              <a:srgbClr val="1E2A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214677" y="4224528"/>
            <a:ext cx="1514246" cy="164592"/>
          </a:xfrm>
          <a:prstGeom prst="line">
            <a:avLst/>
          </a:prstGeom>
          <a:noFill/>
          <a:ln w="12700">
            <a:solidFill>
              <a:srgbClr val="9AA7BD">
                <a:alpha val="70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476549" y="2633472"/>
            <a:ext cx="252374" cy="1591056"/>
          </a:xfrm>
          <a:prstGeom prst="line">
            <a:avLst/>
          </a:prstGeom>
          <a:noFill/>
          <a:ln w="139700">
            <a:solidFill>
              <a:srgbClr val="1E2A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6549" y="2633472"/>
            <a:ext cx="252374" cy="1591056"/>
          </a:xfrm>
          <a:prstGeom prst="line">
            <a:avLst/>
          </a:prstGeom>
          <a:noFill/>
          <a:ln w="12700">
            <a:solidFill>
              <a:srgbClr val="9AA7BD">
                <a:alpha val="70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476549" y="2633472"/>
            <a:ext cx="1598371" cy="521208"/>
          </a:xfrm>
          <a:prstGeom prst="line">
            <a:avLst/>
          </a:prstGeom>
          <a:noFill/>
          <a:ln w="139700">
            <a:solidFill>
              <a:srgbClr val="1E2A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6549" y="2633472"/>
            <a:ext cx="1598371" cy="521208"/>
          </a:xfrm>
          <a:prstGeom prst="line">
            <a:avLst/>
          </a:prstGeom>
          <a:noFill/>
          <a:ln w="12700">
            <a:solidFill>
              <a:srgbClr val="9AA7BD">
                <a:alpha val="70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3728923" y="3154680"/>
            <a:ext cx="1345997" cy="1069848"/>
          </a:xfrm>
          <a:prstGeom prst="line">
            <a:avLst/>
          </a:prstGeom>
          <a:noFill/>
          <a:ln w="139700">
            <a:solidFill>
              <a:srgbClr val="1E2A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728923" y="3154680"/>
            <a:ext cx="1345997" cy="1069848"/>
          </a:xfrm>
          <a:prstGeom prst="line">
            <a:avLst/>
          </a:prstGeom>
          <a:noFill/>
          <a:ln w="12700">
            <a:solidFill>
              <a:srgbClr val="9AA7BD">
                <a:alpha val="70000"/>
              </a:srgbClr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85800" y="3246120"/>
            <a:ext cx="365760" cy="365760"/>
          </a:xfrm>
          <a:prstGeom prst="ellipse">
            <a:avLst/>
          </a:prstGeom>
          <a:solidFill>
            <a:srgbClr val="2A3550"/>
          </a:solidFill>
          <a:ln w="190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63547" y="2121408"/>
            <a:ext cx="365760" cy="365760"/>
          </a:xfrm>
          <a:prstGeom prst="ellipse">
            <a:avLst/>
          </a:prstGeom>
          <a:solidFill>
            <a:srgbClr val="2A3550"/>
          </a:solidFill>
          <a:ln w="190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31797" y="4206240"/>
            <a:ext cx="365760" cy="365760"/>
          </a:xfrm>
          <a:prstGeom prst="ellipse">
            <a:avLst/>
          </a:prstGeom>
          <a:solidFill>
            <a:srgbClr val="2A3550"/>
          </a:solidFill>
          <a:ln w="190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3669" y="2450592"/>
            <a:ext cx="365760" cy="365760"/>
          </a:xfrm>
          <a:prstGeom prst="ellipse">
            <a:avLst/>
          </a:prstGeom>
          <a:solidFill>
            <a:srgbClr val="2A3550"/>
          </a:solidFill>
          <a:ln w="190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46043" y="4041648"/>
            <a:ext cx="365760" cy="365760"/>
          </a:xfrm>
          <a:prstGeom prst="ellipse">
            <a:avLst/>
          </a:prstGeom>
          <a:solidFill>
            <a:srgbClr val="2A3550"/>
          </a:solidFill>
          <a:ln w="190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2971800"/>
            <a:ext cx="365760" cy="365760"/>
          </a:xfrm>
          <a:prstGeom prst="ellipse">
            <a:avLst/>
          </a:prstGeom>
          <a:solidFill>
            <a:srgbClr val="2A3550"/>
          </a:solidFill>
          <a:ln w="190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52160" y="3017520"/>
            <a:ext cx="457200" cy="365760"/>
          </a:xfrm>
          <a:prstGeom prst="rightArrow">
            <a:avLst/>
          </a:prstGeom>
          <a:solidFill>
            <a:srgbClr val="22E6FF"/>
          </a:solidFill>
          <a:ln/>
        </p:spPr>
      </p:sp>
      <p:sp>
        <p:nvSpPr>
          <p:cNvPr id="32" name="Shape 30"/>
          <p:cNvSpPr/>
          <p:nvPr/>
        </p:nvSpPr>
        <p:spPr>
          <a:xfrm flipV="1">
            <a:off x="6766560" y="2249424"/>
            <a:ext cx="1344168" cy="1042416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37476" y="2633472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766560" y="3291840"/>
            <a:ext cx="1344168" cy="1042416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37476" y="3675888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10728" y="2249424"/>
            <a:ext cx="0" cy="2084832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09560" y="2841955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110728" y="2249424"/>
            <a:ext cx="1523390" cy="493776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71255" y="2359152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 flipV="1">
            <a:off x="8110728" y="2743200"/>
            <a:ext cx="1523390" cy="1591056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71255" y="3401568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 flipV="1">
            <a:off x="8110728" y="4169664"/>
            <a:ext cx="1523390" cy="164592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71255" y="4114800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634118" y="2743200"/>
            <a:ext cx="0" cy="142646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432950" y="3148096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634118" y="2743200"/>
            <a:ext cx="1613002" cy="54864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239451" y="2880360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 flipV="1">
            <a:off x="9634118" y="3291840"/>
            <a:ext cx="1613002" cy="87782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239451" y="3593592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519672" y="3044952"/>
            <a:ext cx="493776" cy="493776"/>
          </a:xfrm>
          <a:prstGeom prst="ellipse">
            <a:avLst/>
          </a:prstGeom>
          <a:solidFill>
            <a:srgbClr val="0D1733"/>
          </a:solidFill>
          <a:ln w="317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7863840" y="2002536"/>
            <a:ext cx="493776" cy="493776"/>
          </a:xfrm>
          <a:prstGeom prst="ellipse">
            <a:avLst/>
          </a:prstGeom>
          <a:solidFill>
            <a:srgbClr val="0D1733"/>
          </a:solidFill>
          <a:ln w="317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7863840" y="4087368"/>
            <a:ext cx="493776" cy="493776"/>
          </a:xfrm>
          <a:prstGeom prst="ellipse">
            <a:avLst/>
          </a:prstGeom>
          <a:solidFill>
            <a:srgbClr val="0D1733"/>
          </a:solidFill>
          <a:ln w="317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9387230" y="2496312"/>
            <a:ext cx="493776" cy="493776"/>
          </a:xfrm>
          <a:prstGeom prst="ellipse">
            <a:avLst/>
          </a:prstGeom>
          <a:solidFill>
            <a:srgbClr val="0D1733"/>
          </a:solidFill>
          <a:ln w="317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9387230" y="3922776"/>
            <a:ext cx="493776" cy="493776"/>
          </a:xfrm>
          <a:prstGeom prst="ellipse">
            <a:avLst/>
          </a:prstGeom>
          <a:solidFill>
            <a:srgbClr val="0D1733"/>
          </a:solidFill>
          <a:ln w="317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11000232" y="3044952"/>
            <a:ext cx="493776" cy="493776"/>
          </a:xfrm>
          <a:prstGeom prst="ellipse">
            <a:avLst/>
          </a:prstGeom>
          <a:solidFill>
            <a:srgbClr val="0D1733"/>
          </a:solidFill>
          <a:ln w="31750">
            <a:solidFill>
              <a:srgbClr val="FFB2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6455664" y="2980944"/>
            <a:ext cx="621792" cy="621792"/>
          </a:xfrm>
          <a:prstGeom prst="ellipse">
            <a:avLst/>
          </a:prstGeom>
          <a:solidFill>
            <a:srgbClr val="22E6FF">
              <a:alpha val="0"/>
            </a:srgbClr>
          </a:solidFill>
          <a:ln w="19050">
            <a:solidFill>
              <a:srgbClr val="22E6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" y="52578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13232" y="5394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→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2834640" y="52578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999232" y="5394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→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120640" y="52578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285232" y="5394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→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406640" y="52578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571232" y="5394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9692640" y="52578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0D1733"/>
          </a:solidFill>
          <a:ln w="19050">
            <a:solidFill>
              <a:srgbClr val="FFB22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829800" y="5394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FB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(V, E)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= 6   |E| = 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nearest. Update the network. Repeat.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194560" y="3017520"/>
            <a:ext cx="1828800" cy="1828800"/>
          </a:xfrm>
          <a:prstGeom prst="ellipse">
            <a:avLst/>
          </a:prstGeom>
          <a:solidFill>
            <a:srgbClr val="22E6FF">
              <a:alpha val="0"/>
            </a:srgbClr>
          </a:solidFill>
          <a:ln w="9525">
            <a:solidFill>
              <a:srgbClr val="22E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2240280"/>
            <a:ext cx="3383280" cy="3383280"/>
          </a:xfrm>
          <a:prstGeom prst="ellipse">
            <a:avLst/>
          </a:prstGeom>
          <a:solidFill>
            <a:srgbClr val="22E6FF">
              <a:alpha val="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4846320" cy="4846320"/>
          </a:xfrm>
          <a:prstGeom prst="ellipse">
            <a:avLst/>
          </a:prstGeom>
          <a:solidFill>
            <a:srgbClr val="22E6FF">
              <a:alpha val="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3931920"/>
            <a:ext cx="914400" cy="0"/>
          </a:xfrm>
          <a:prstGeom prst="line">
            <a:avLst/>
          </a:prstGeom>
          <a:noFill/>
          <a:ln w="31750">
            <a:solidFill>
              <a:srgbClr val="22E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3931920"/>
            <a:ext cx="282597" cy="869636"/>
          </a:xfrm>
          <a:prstGeom prst="line">
            <a:avLst/>
          </a:prstGeom>
          <a:noFill/>
          <a:ln w="31750">
            <a:solidFill>
              <a:srgbClr val="22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369235" y="3931920"/>
            <a:ext cx="739725" cy="537526"/>
          </a:xfrm>
          <a:prstGeom prst="line">
            <a:avLst/>
          </a:prstGeom>
          <a:noFill/>
          <a:ln w="31750">
            <a:solidFill>
              <a:srgbClr val="22E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69135" y="3394531"/>
            <a:ext cx="739825" cy="537389"/>
          </a:xfrm>
          <a:prstGeom prst="line">
            <a:avLst/>
          </a:prstGeom>
          <a:noFill/>
          <a:ln w="31750">
            <a:solidFill>
              <a:srgbClr val="22E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108960" y="3062232"/>
            <a:ext cx="282436" cy="869688"/>
          </a:xfrm>
          <a:prstGeom prst="line">
            <a:avLst/>
          </a:prstGeom>
          <a:noFill/>
          <a:ln w="31750">
            <a:solidFill>
              <a:srgbClr val="22E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3931920"/>
            <a:ext cx="643704" cy="658756"/>
          </a:xfrm>
          <a:prstGeom prst="line">
            <a:avLst/>
          </a:prstGeom>
          <a:noFill/>
          <a:ln w="15240">
            <a:solidFill>
              <a:srgbClr val="B79CF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91557" y="4801556"/>
            <a:ext cx="353374" cy="697906"/>
          </a:xfrm>
          <a:prstGeom prst="line">
            <a:avLst/>
          </a:prstGeom>
          <a:noFill/>
          <a:ln w="15240">
            <a:solidFill>
              <a:srgbClr val="B79CFF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69235" y="4469446"/>
            <a:ext cx="81042" cy="1020608"/>
          </a:xfrm>
          <a:prstGeom prst="line">
            <a:avLst/>
          </a:prstGeom>
          <a:noFill/>
          <a:ln w="15240">
            <a:solidFill>
              <a:srgbClr val="B79CFF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541448" y="4469446"/>
            <a:ext cx="827787" cy="98518"/>
          </a:xfrm>
          <a:prstGeom prst="line">
            <a:avLst/>
          </a:prstGeom>
          <a:noFill/>
          <a:ln w="15240">
            <a:solidFill>
              <a:srgbClr val="B79CFF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0795" y="3273309"/>
            <a:ext cx="818340" cy="121223"/>
          </a:xfrm>
          <a:prstGeom prst="line">
            <a:avLst/>
          </a:prstGeom>
          <a:noFill/>
          <a:ln w="15240">
            <a:solidFill>
              <a:srgbClr val="B79CFF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369135" y="2364437"/>
            <a:ext cx="103708" cy="1030094"/>
          </a:xfrm>
          <a:prstGeom prst="line">
            <a:avLst/>
          </a:prstGeom>
          <a:noFill/>
          <a:ln w="15240">
            <a:solidFill>
              <a:srgbClr val="B79CFF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391396" y="2373725"/>
            <a:ext cx="376103" cy="688507"/>
          </a:xfrm>
          <a:prstGeom prst="line">
            <a:avLst/>
          </a:prstGeom>
          <a:noFill/>
          <a:ln w="15240">
            <a:solidFill>
              <a:srgbClr val="B79CFF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023360" y="3295731"/>
            <a:ext cx="653053" cy="636189"/>
          </a:xfrm>
          <a:prstGeom prst="line">
            <a:avLst/>
          </a:prstGeom>
          <a:noFill/>
          <a:ln w="15240">
            <a:solidFill>
              <a:srgbClr val="B79CFF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4931" y="5499461"/>
            <a:ext cx="1052260" cy="170727"/>
          </a:xfrm>
          <a:prstGeom prst="line">
            <a:avLst/>
          </a:prstGeom>
          <a:noFill/>
          <a:ln w="15240">
            <a:solidFill>
              <a:srgbClr val="38425C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589452" y="5499461"/>
            <a:ext cx="155479" cy="807502"/>
          </a:xfrm>
          <a:prstGeom prst="line">
            <a:avLst/>
          </a:prstGeom>
          <a:noFill/>
          <a:ln w="15240">
            <a:solidFill>
              <a:srgbClr val="38425C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229168" y="5490054"/>
            <a:ext cx="221108" cy="699668"/>
          </a:xfrm>
          <a:prstGeom prst="line">
            <a:avLst/>
          </a:prstGeom>
          <a:noFill/>
          <a:ln w="15240">
            <a:solidFill>
              <a:srgbClr val="38425C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148196" y="4567964"/>
            <a:ext cx="393252" cy="787722"/>
          </a:xfrm>
          <a:prstGeom prst="line">
            <a:avLst/>
          </a:prstGeom>
          <a:noFill/>
          <a:ln w="15240">
            <a:solidFill>
              <a:srgbClr val="38425C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9717" y="4069640"/>
            <a:ext cx="851731" cy="498324"/>
          </a:xfrm>
          <a:prstGeom prst="line">
            <a:avLst/>
          </a:prstGeom>
          <a:noFill/>
          <a:ln w="15240">
            <a:solidFill>
              <a:srgbClr val="38425C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9286" y="2739871"/>
            <a:ext cx="551509" cy="533438"/>
          </a:xfrm>
          <a:prstGeom prst="line">
            <a:avLst/>
          </a:prstGeom>
          <a:noFill/>
          <a:ln w="15240">
            <a:solidFill>
              <a:srgbClr val="38425C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624" y="1788548"/>
            <a:ext cx="494220" cy="575890"/>
          </a:xfrm>
          <a:prstGeom prst="line">
            <a:avLst/>
          </a:prstGeom>
          <a:noFill/>
          <a:ln w="15240">
            <a:solidFill>
              <a:srgbClr val="38425C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6814" y="1517691"/>
            <a:ext cx="450685" cy="856034"/>
          </a:xfrm>
          <a:prstGeom prst="line">
            <a:avLst/>
          </a:prstGeom>
          <a:noFill/>
          <a:ln w="15240">
            <a:solidFill>
              <a:srgbClr val="38425C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767499" y="2013291"/>
            <a:ext cx="821517" cy="360434"/>
          </a:xfrm>
          <a:prstGeom prst="line">
            <a:avLst/>
          </a:prstGeom>
          <a:noFill/>
          <a:ln w="15240">
            <a:solidFill>
              <a:srgbClr val="38425C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676413" y="3118007"/>
            <a:ext cx="714925" cy="177724"/>
          </a:xfrm>
          <a:prstGeom prst="line">
            <a:avLst/>
          </a:prstGeom>
          <a:noFill/>
          <a:ln w="15240">
            <a:solidFill>
              <a:srgbClr val="38425C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667064" y="4481120"/>
            <a:ext cx="801999" cy="109556"/>
          </a:xfrm>
          <a:prstGeom prst="line">
            <a:avLst/>
          </a:prstGeom>
          <a:noFill/>
          <a:ln w="15240">
            <a:solidFill>
              <a:srgbClr val="38425C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5344" y="3803904"/>
            <a:ext cx="256032" cy="256032"/>
          </a:xfrm>
          <a:prstGeom prst="ellipse">
            <a:avLst/>
          </a:prstGeom>
          <a:solidFill>
            <a:srgbClr val="22E6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263541" y="4673540"/>
            <a:ext cx="256032" cy="256032"/>
          </a:xfrm>
          <a:prstGeom prst="ellipse">
            <a:avLst/>
          </a:prstGeom>
          <a:solidFill>
            <a:srgbClr val="22E6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241219" y="4341430"/>
            <a:ext cx="256032" cy="256032"/>
          </a:xfrm>
          <a:prstGeom prst="ellipse">
            <a:avLst/>
          </a:prstGeom>
          <a:solidFill>
            <a:srgbClr val="22E6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241119" y="3266515"/>
            <a:ext cx="256032" cy="256032"/>
          </a:xfrm>
          <a:prstGeom prst="ellipse">
            <a:avLst/>
          </a:prstGeom>
          <a:solidFill>
            <a:srgbClr val="22E6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263380" y="2934216"/>
            <a:ext cx="256032" cy="256032"/>
          </a:xfrm>
          <a:prstGeom prst="ellipse">
            <a:avLst/>
          </a:prstGeom>
          <a:solidFill>
            <a:srgbClr val="22E6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39048" y="4462660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Shape 34"/>
          <p:cNvSpPr/>
          <p:nvPr/>
        </p:nvSpPr>
        <p:spPr>
          <a:xfrm>
            <a:off x="3616915" y="5371445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7" name="Shape 35"/>
          <p:cNvSpPr/>
          <p:nvPr/>
        </p:nvSpPr>
        <p:spPr>
          <a:xfrm>
            <a:off x="2322261" y="5362038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Shape 36"/>
          <p:cNvSpPr/>
          <p:nvPr/>
        </p:nvSpPr>
        <p:spPr>
          <a:xfrm>
            <a:off x="1413432" y="4439948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Shape 37"/>
          <p:cNvSpPr/>
          <p:nvPr/>
        </p:nvSpPr>
        <p:spPr>
          <a:xfrm>
            <a:off x="1422779" y="3145293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Shape 38"/>
          <p:cNvSpPr/>
          <p:nvPr/>
        </p:nvSpPr>
        <p:spPr>
          <a:xfrm>
            <a:off x="2344827" y="2236421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1" name="Shape 39"/>
          <p:cNvSpPr/>
          <p:nvPr/>
        </p:nvSpPr>
        <p:spPr>
          <a:xfrm>
            <a:off x="3639483" y="2245709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2" name="Shape 40"/>
          <p:cNvSpPr/>
          <p:nvPr/>
        </p:nvSpPr>
        <p:spPr>
          <a:xfrm>
            <a:off x="4548397" y="3167715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3" name="Shape 41"/>
          <p:cNvSpPr/>
          <p:nvPr/>
        </p:nvSpPr>
        <p:spPr>
          <a:xfrm>
            <a:off x="4705752" y="5578749"/>
            <a:ext cx="182880" cy="182880"/>
          </a:xfrm>
          <a:prstGeom prst="ellipse">
            <a:avLst/>
          </a:prstGeom>
          <a:solidFill>
            <a:srgbClr val="38425C"/>
          </a:solidFill>
          <a:ln/>
        </p:spPr>
      </p:sp>
      <p:sp>
        <p:nvSpPr>
          <p:cNvPr id="44" name="Shape 42"/>
          <p:cNvSpPr/>
          <p:nvPr/>
        </p:nvSpPr>
        <p:spPr>
          <a:xfrm>
            <a:off x="3498012" y="6215524"/>
            <a:ext cx="182880" cy="182880"/>
          </a:xfrm>
          <a:prstGeom prst="ellipse">
            <a:avLst/>
          </a:prstGeom>
          <a:solidFill>
            <a:srgbClr val="38425C"/>
          </a:solidFill>
          <a:ln/>
        </p:spPr>
      </p:sp>
      <p:sp>
        <p:nvSpPr>
          <p:cNvPr id="45" name="Shape 43"/>
          <p:cNvSpPr/>
          <p:nvPr/>
        </p:nvSpPr>
        <p:spPr>
          <a:xfrm>
            <a:off x="2137728" y="6098282"/>
            <a:ext cx="182880" cy="182880"/>
          </a:xfrm>
          <a:prstGeom prst="ellipse">
            <a:avLst/>
          </a:prstGeom>
          <a:solidFill>
            <a:srgbClr val="38425C"/>
          </a:solidFill>
          <a:ln/>
        </p:spPr>
      </p:sp>
      <p:sp>
        <p:nvSpPr>
          <p:cNvPr id="46" name="Shape 44"/>
          <p:cNvSpPr/>
          <p:nvPr/>
        </p:nvSpPr>
        <p:spPr>
          <a:xfrm>
            <a:off x="1056756" y="5264246"/>
            <a:ext cx="182880" cy="182880"/>
          </a:xfrm>
          <a:prstGeom prst="ellipse">
            <a:avLst/>
          </a:prstGeom>
          <a:solidFill>
            <a:srgbClr val="38425C"/>
          </a:solidFill>
          <a:ln/>
        </p:spPr>
      </p:sp>
      <p:sp>
        <p:nvSpPr>
          <p:cNvPr id="47" name="Shape 45"/>
          <p:cNvSpPr/>
          <p:nvPr/>
        </p:nvSpPr>
        <p:spPr>
          <a:xfrm>
            <a:off x="598277" y="3978200"/>
            <a:ext cx="182880" cy="182880"/>
          </a:xfrm>
          <a:prstGeom prst="ellipse">
            <a:avLst/>
          </a:prstGeom>
          <a:solidFill>
            <a:srgbClr val="38425C"/>
          </a:solidFill>
          <a:ln/>
        </p:spPr>
      </p:sp>
      <p:sp>
        <p:nvSpPr>
          <p:cNvPr id="48" name="Shape 46"/>
          <p:cNvSpPr/>
          <p:nvPr/>
        </p:nvSpPr>
        <p:spPr>
          <a:xfrm>
            <a:off x="907846" y="2648431"/>
            <a:ext cx="182880" cy="182880"/>
          </a:xfrm>
          <a:prstGeom prst="ellipse">
            <a:avLst/>
          </a:prstGeom>
          <a:solidFill>
            <a:srgbClr val="38425C"/>
          </a:solidFill>
          <a:ln/>
        </p:spPr>
      </p:sp>
      <p:sp>
        <p:nvSpPr>
          <p:cNvPr id="49" name="Shape 47"/>
          <p:cNvSpPr/>
          <p:nvPr/>
        </p:nvSpPr>
        <p:spPr>
          <a:xfrm>
            <a:off x="1887184" y="1697108"/>
            <a:ext cx="182880" cy="182880"/>
          </a:xfrm>
          <a:prstGeom prst="ellipse">
            <a:avLst/>
          </a:prstGeom>
          <a:solidFill>
            <a:srgbClr val="38425C"/>
          </a:solidFill>
          <a:ln/>
        </p:spPr>
      </p:sp>
      <p:sp>
        <p:nvSpPr>
          <p:cNvPr id="50" name="Shape 48"/>
          <p:cNvSpPr/>
          <p:nvPr/>
        </p:nvSpPr>
        <p:spPr>
          <a:xfrm>
            <a:off x="3225374" y="1426251"/>
            <a:ext cx="182880" cy="182880"/>
          </a:xfrm>
          <a:prstGeom prst="ellipse">
            <a:avLst/>
          </a:prstGeom>
          <a:solidFill>
            <a:srgbClr val="38425C"/>
          </a:solidFill>
          <a:ln/>
        </p:spPr>
      </p:sp>
      <p:sp>
        <p:nvSpPr>
          <p:cNvPr id="51" name="Shape 49"/>
          <p:cNvSpPr/>
          <p:nvPr/>
        </p:nvSpPr>
        <p:spPr>
          <a:xfrm>
            <a:off x="4497577" y="1921851"/>
            <a:ext cx="182880" cy="182880"/>
          </a:xfrm>
          <a:prstGeom prst="ellipse">
            <a:avLst/>
          </a:prstGeom>
          <a:solidFill>
            <a:srgbClr val="38425C"/>
          </a:solidFill>
          <a:ln/>
        </p:spPr>
      </p:sp>
      <p:sp>
        <p:nvSpPr>
          <p:cNvPr id="52" name="Shape 50"/>
          <p:cNvSpPr/>
          <p:nvPr/>
        </p:nvSpPr>
        <p:spPr>
          <a:xfrm>
            <a:off x="5299898" y="3026567"/>
            <a:ext cx="182880" cy="182880"/>
          </a:xfrm>
          <a:prstGeom prst="ellipse">
            <a:avLst/>
          </a:prstGeom>
          <a:solidFill>
            <a:srgbClr val="38425C"/>
          </a:solidFill>
          <a:ln/>
        </p:spPr>
      </p:sp>
      <p:sp>
        <p:nvSpPr>
          <p:cNvPr id="53" name="Shape 51"/>
          <p:cNvSpPr/>
          <p:nvPr/>
        </p:nvSpPr>
        <p:spPr>
          <a:xfrm>
            <a:off x="5377622" y="4389680"/>
            <a:ext cx="182880" cy="182880"/>
          </a:xfrm>
          <a:prstGeom prst="ellipse">
            <a:avLst/>
          </a:prstGeom>
          <a:solidFill>
            <a:srgbClr val="38425C"/>
          </a:solidFill>
          <a:ln/>
        </p:spPr>
      </p:sp>
      <p:sp>
        <p:nvSpPr>
          <p:cNvPr id="54" name="Shape 52"/>
          <p:cNvSpPr/>
          <p:nvPr/>
        </p:nvSpPr>
        <p:spPr>
          <a:xfrm>
            <a:off x="2606040" y="3429000"/>
            <a:ext cx="1005840" cy="1005840"/>
          </a:xfrm>
          <a:prstGeom prst="ellipse">
            <a:avLst/>
          </a:prstGeom>
          <a:solidFill>
            <a:srgbClr val="22E6FF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3657600"/>
            <a:ext cx="548640" cy="548640"/>
          </a:xfrm>
          <a:prstGeom prst="ellipse">
            <a:avLst/>
          </a:prstGeom>
          <a:solidFill>
            <a:srgbClr val="22E6F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256032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NEAREST: FINALIZED FIRST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338328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FARTHER: STILL SUBDUED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00800" y="13716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629400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5000" dirty="0"/>
          </a:p>
        </p:txBody>
      </p:sp>
      <p:sp>
        <p:nvSpPr>
          <p:cNvPr id="61" name="Text 59"/>
          <p:cNvSpPr txBox="1"/>
          <p:nvPr/>
        </p:nvSpPr>
        <p:spPr>
          <a:xfrm>
            <a:off x="841248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EDSGER W. DIJKSTRA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Conceived 1956  |  Published 1959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6400800" y="2788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3" name="Text 61"/>
          <p:cNvSpPr txBox="1"/>
          <p:nvPr/>
        </p:nvSpPr>
        <p:spPr>
          <a:xfrm>
            <a:off x="731520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distances.</a:t>
            </a:r>
            <a:endParaRPr lang="en-US" sz="1700" dirty="0"/>
          </a:p>
        </p:txBody>
      </p:sp>
      <p:sp>
        <p:nvSpPr>
          <p:cNvPr id="64" name="Text 62"/>
          <p:cNvSpPr txBox="1"/>
          <p:nvPr/>
        </p:nvSpPr>
        <p:spPr>
          <a:xfrm>
            <a:off x="640080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65" name="Text 63"/>
          <p:cNvSpPr txBox="1"/>
          <p:nvPr/>
        </p:nvSpPr>
        <p:spPr>
          <a:xfrm>
            <a:off x="7315200" y="37033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minimum tentative distance.</a:t>
            </a:r>
            <a:endParaRPr lang="en-US" sz="1700" dirty="0"/>
          </a:p>
        </p:txBody>
      </p:sp>
      <p:sp>
        <p:nvSpPr>
          <p:cNvPr id="66" name="Text 64"/>
          <p:cNvSpPr txBox="1"/>
          <p:nvPr/>
        </p:nvSpPr>
        <p:spPr>
          <a:xfrm>
            <a:off x="6400800" y="4526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67" name="Text 65"/>
          <p:cNvSpPr txBox="1"/>
          <p:nvPr/>
        </p:nvSpPr>
        <p:spPr>
          <a:xfrm>
            <a:off x="7315200" y="4572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edges and update neighboring distances.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6400800" y="54406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0D1733"/>
          </a:solidFill>
          <a:ln w="25400">
            <a:solidFill>
              <a:srgbClr val="FFB22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629400" y="54406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REQUIRES NON-NEGATIVE EDGE WEIGHTS.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shortest path is discovered one decision at a time.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822960" y="2238451"/>
            <a:ext cx="3154680" cy="1442009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199132" y="2822296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80460"/>
            <a:ext cx="3154680" cy="1442009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680460"/>
            <a:ext cx="3154680" cy="1442009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9132" y="4264304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77640" y="2238451"/>
            <a:ext cx="0" cy="2884018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76472" y="3110697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77640" y="2238451"/>
            <a:ext cx="3575304" cy="683057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64124" y="2442820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 flipV="1">
            <a:off x="3977640" y="2921508"/>
            <a:ext cx="3575304" cy="2200961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64124" y="3884828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V="1">
            <a:off x="3977640" y="4894783"/>
            <a:ext cx="3575304" cy="227686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64124" y="4871466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52944" y="2921508"/>
            <a:ext cx="0" cy="1973275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51776" y="3534193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52944" y="2921508"/>
            <a:ext cx="3785616" cy="758952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44584" y="3163824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 flipV="1">
            <a:off x="7552944" y="3680460"/>
            <a:ext cx="3785616" cy="1214323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44584" y="4150462"/>
            <a:ext cx="402336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" y="3433572"/>
            <a:ext cx="493776" cy="493776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140964"/>
            <a:ext cx="457200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30752" y="1991563"/>
            <a:ext cx="493776" cy="493776"/>
          </a:xfrm>
          <a:prstGeom prst="ellipse">
            <a:avLst/>
          </a:prstGeom>
          <a:solidFill>
            <a:srgbClr val="0D1733"/>
          </a:solidFill>
          <a:ln w="317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1698955"/>
            <a:ext cx="457200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30752" y="4875581"/>
            <a:ext cx="493776" cy="493776"/>
          </a:xfrm>
          <a:prstGeom prst="ellipse">
            <a:avLst/>
          </a:prstGeom>
          <a:solidFill>
            <a:srgbClr val="22E6FF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4582973"/>
            <a:ext cx="457200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06056" y="2674620"/>
            <a:ext cx="493776" cy="493776"/>
          </a:xfrm>
          <a:prstGeom prst="ellipse">
            <a:avLst/>
          </a:prstGeom>
          <a:solidFill>
            <a:srgbClr val="0D1733"/>
          </a:solidFill>
          <a:ln w="317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7324344" y="2382012"/>
            <a:ext cx="457200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06056" y="4647895"/>
            <a:ext cx="493776" cy="493776"/>
          </a:xfrm>
          <a:prstGeom prst="ellipse">
            <a:avLst/>
          </a:prstGeom>
          <a:solidFill>
            <a:srgbClr val="0D1733"/>
          </a:solidFill>
          <a:ln w="317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7324344" y="4355287"/>
            <a:ext cx="457200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091672" y="3433572"/>
            <a:ext cx="493776" cy="493776"/>
          </a:xfrm>
          <a:prstGeom prst="ellipse">
            <a:avLst/>
          </a:prstGeom>
          <a:solidFill>
            <a:srgbClr val="0D1733"/>
          </a:solidFill>
          <a:ln w="31750">
            <a:solidFill>
              <a:srgbClr val="FFB2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1109960" y="3140964"/>
            <a:ext cx="457200" cy="274320"/>
          </a:xfrm>
          <a:prstGeom prst="rect">
            <a:avLst/>
          </a:prstGeom>
          <a:solidFill>
            <a:srgbClr val="050B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48640" y="585216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852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585216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697480" y="585216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97480" y="5852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26280" y="585216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46320" y="585216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22E6FF"/>
          </a:solidFill>
          <a:ln w="12700">
            <a:solidFill>
              <a:srgbClr val="22E6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46320" y="5852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675120" y="585216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95160" y="585216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95160" y="5852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235440" y="5760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Shown: C finalized at 2; edges relaxed so B = 3, D = 10, E = 12 (tentative). Cyan = final, purple = tentative, amber = destination.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cost fall.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731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= FINAL DISTANCE   |   PURPLE = TENTATIVE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SELECT A AT 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822960" y="2062886"/>
            <a:ext cx="905256" cy="451714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8428" y="2197303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905256" cy="451714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38428" y="264901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28216" y="2062886"/>
            <a:ext cx="0" cy="903427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91056" y="2287646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28216" y="2062886"/>
            <a:ext cx="1025957" cy="21397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04034" y="2078431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V="1">
            <a:off x="1728216" y="2276856"/>
            <a:ext cx="1025957" cy="689458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04034" y="253014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flipV="1">
            <a:off x="1728216" y="2894990"/>
            <a:ext cx="1025957" cy="71323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04034" y="2839212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54173" y="2276856"/>
            <a:ext cx="0" cy="61813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7013" y="242030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54173" y="2276856"/>
            <a:ext cx="1086307" cy="23774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60166" y="2304288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V="1">
            <a:off x="2754173" y="2514600"/>
            <a:ext cx="1086307" cy="38039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60166" y="261335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" y="2368296"/>
            <a:ext cx="292608" cy="292608"/>
          </a:xfrm>
          <a:prstGeom prst="ellipse">
            <a:avLst/>
          </a:prstGeom>
          <a:solidFill>
            <a:srgbClr val="22E6FF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207568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81912" y="1916582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99616" y="162397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81912" y="2820010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499616" y="2527402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07869" y="2130552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525573" y="183794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7869" y="274868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525573" y="245607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94176" y="236829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FFB2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611880" y="207568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 = 4, C = 2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43400" y="11887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2628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SELECT C AT 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 flipV="1">
            <a:off x="4663440" y="2062886"/>
            <a:ext cx="905256" cy="45171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78908" y="2197303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514600"/>
            <a:ext cx="905256" cy="451714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514600"/>
            <a:ext cx="905256" cy="451714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978908" y="264901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68696" y="2062886"/>
            <a:ext cx="0" cy="903427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31536" y="2287646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68696" y="2062886"/>
            <a:ext cx="1025957" cy="21397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44514" y="2078431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 flipV="1">
            <a:off x="5568696" y="2276856"/>
            <a:ext cx="1025957" cy="689458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44514" y="253014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 flipV="1">
            <a:off x="5568696" y="2894990"/>
            <a:ext cx="1025957" cy="71323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944514" y="2839212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594653" y="2276856"/>
            <a:ext cx="0" cy="61813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57493" y="242030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594653" y="2276856"/>
            <a:ext cx="1086307" cy="23774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000646" y="2304288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 flipV="1">
            <a:off x="6594653" y="2514600"/>
            <a:ext cx="1086307" cy="38039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000646" y="261335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17136" y="236829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4434840" y="207568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422392" y="1916582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340096" y="162397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422392" y="2820010"/>
            <a:ext cx="292608" cy="292608"/>
          </a:xfrm>
          <a:prstGeom prst="ellipse">
            <a:avLst/>
          </a:prstGeom>
          <a:solidFill>
            <a:srgbClr val="22E6FF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340096" y="2527402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48349" y="2130552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6366053" y="183794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448349" y="274868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366053" y="245607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534656" y="236829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FFB2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7452360" y="207568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452628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 = 3, D = 10, E = 12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183880" y="11887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36676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SELECT B AT 3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 flipV="1">
            <a:off x="8503920" y="2062886"/>
            <a:ext cx="905256" cy="45171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819388" y="2197303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503920" y="2514600"/>
            <a:ext cx="905256" cy="451714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03920" y="2514600"/>
            <a:ext cx="905256" cy="451714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819388" y="264901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409176" y="2062886"/>
            <a:ext cx="0" cy="903427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409176" y="2062886"/>
            <a:ext cx="0" cy="903427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272016" y="2287646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9409176" y="2062886"/>
            <a:ext cx="1025957" cy="21397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784994" y="2078431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 flipV="1">
            <a:off x="9409176" y="2276856"/>
            <a:ext cx="1025957" cy="689458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784994" y="253014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 flipV="1">
            <a:off x="9409176" y="2894990"/>
            <a:ext cx="1025957" cy="71323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784994" y="2839212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0435133" y="2276856"/>
            <a:ext cx="0" cy="61813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297973" y="242030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0435133" y="2276856"/>
            <a:ext cx="1086307" cy="23774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841126" y="2304288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 flipV="1">
            <a:off x="10435133" y="2514600"/>
            <a:ext cx="1086307" cy="38039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0841126" y="261335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357616" y="236829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8275320" y="207568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262872" y="1916582"/>
            <a:ext cx="292608" cy="292608"/>
          </a:xfrm>
          <a:prstGeom prst="ellipse">
            <a:avLst/>
          </a:prstGeom>
          <a:solidFill>
            <a:srgbClr val="22E6FF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9180576" y="162397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9262872" y="2820010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9180576" y="2527402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10288829" y="2130552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10206533" y="183794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10288829" y="274868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10206533" y="245607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1375136" y="236829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FFB2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11292840" y="207568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836676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 = 8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502920" y="36118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8580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SELECT D AT 8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 flipV="1">
            <a:off x="822960" y="4486046"/>
            <a:ext cx="905256" cy="45171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1138428" y="4620463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22960" y="4937760"/>
            <a:ext cx="905256" cy="451714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22960" y="4937760"/>
            <a:ext cx="905256" cy="451714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1138428" y="507217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1728216" y="4486046"/>
            <a:ext cx="0" cy="903427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728216" y="4486046"/>
            <a:ext cx="0" cy="903427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1591056" y="4710806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1728216" y="4486046"/>
            <a:ext cx="1025957" cy="213970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728216" y="4486046"/>
            <a:ext cx="1025957" cy="213970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2104034" y="4501591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 flipV="1">
            <a:off x="1728216" y="4700016"/>
            <a:ext cx="1025957" cy="689458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2104034" y="495330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 flipV="1">
            <a:off x="1728216" y="5318150"/>
            <a:ext cx="1025957" cy="71323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2104034" y="5262372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2754173" y="4700016"/>
            <a:ext cx="0" cy="618134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2617013" y="484346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2754173" y="4700016"/>
            <a:ext cx="1086307" cy="237744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3160166" y="4727448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 flipV="1">
            <a:off x="2754173" y="4937760"/>
            <a:ext cx="1086307" cy="38039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3160166" y="503651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9" name="Text 127"/>
          <p:cNvSpPr/>
          <p:nvPr/>
        </p:nvSpPr>
        <p:spPr>
          <a:xfrm>
            <a:off x="676656" y="479145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594360" y="449884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131" name="Text 129"/>
          <p:cNvSpPr/>
          <p:nvPr/>
        </p:nvSpPr>
        <p:spPr>
          <a:xfrm>
            <a:off x="1581912" y="4339742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1499616" y="404713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1581912" y="5243170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1499616" y="4950562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5" name="Text 133"/>
          <p:cNvSpPr/>
          <p:nvPr/>
        </p:nvSpPr>
        <p:spPr>
          <a:xfrm>
            <a:off x="2607869" y="4553712"/>
            <a:ext cx="292608" cy="292608"/>
          </a:xfrm>
          <a:prstGeom prst="ellipse">
            <a:avLst/>
          </a:prstGeom>
          <a:solidFill>
            <a:srgbClr val="22E6FF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2525573" y="426110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37" name="Text 135"/>
          <p:cNvSpPr/>
          <p:nvPr/>
        </p:nvSpPr>
        <p:spPr>
          <a:xfrm>
            <a:off x="2607869" y="517184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2525573" y="487923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3694176" y="479145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FFB2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3611880" y="449884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85800" y="5623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 = 10, F = 14</a:t>
            </a:r>
            <a:endParaRPr lang="en-US" sz="1300" dirty="0"/>
          </a:p>
        </p:txBody>
      </p:sp>
      <p:sp>
        <p:nvSpPr>
          <p:cNvPr id="142" name="Shape 140"/>
          <p:cNvSpPr/>
          <p:nvPr/>
        </p:nvSpPr>
        <p:spPr>
          <a:xfrm>
            <a:off x="4343400" y="36118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452628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SELECT E AT 10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 flipV="1">
            <a:off x="4663440" y="4486046"/>
            <a:ext cx="905256" cy="45171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4978908" y="4620463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4663440" y="4937760"/>
            <a:ext cx="905256" cy="451714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663440" y="4937760"/>
            <a:ext cx="905256" cy="451714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4978908" y="507217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5568696" y="4486046"/>
            <a:ext cx="0" cy="903427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568696" y="4486046"/>
            <a:ext cx="0" cy="903427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5431536" y="4710806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5568696" y="4486046"/>
            <a:ext cx="1025957" cy="213970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568696" y="4486046"/>
            <a:ext cx="1025957" cy="213970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5944514" y="4501591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 flipV="1">
            <a:off x="5568696" y="4700016"/>
            <a:ext cx="1025957" cy="689458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5944514" y="495330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 flipV="1">
            <a:off x="5568696" y="5318150"/>
            <a:ext cx="1025957" cy="71323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5944514" y="5262372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6594653" y="4700016"/>
            <a:ext cx="0" cy="618134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594653" y="4700016"/>
            <a:ext cx="0" cy="618134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6457493" y="484346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2" name="Shape 160"/>
          <p:cNvSpPr/>
          <p:nvPr/>
        </p:nvSpPr>
        <p:spPr>
          <a:xfrm>
            <a:off x="6594653" y="4700016"/>
            <a:ext cx="1086307" cy="23774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7000646" y="4727448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 flipV="1">
            <a:off x="6594653" y="4937760"/>
            <a:ext cx="1086307" cy="38039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7000646" y="503651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6" name="Text 164"/>
          <p:cNvSpPr/>
          <p:nvPr/>
        </p:nvSpPr>
        <p:spPr>
          <a:xfrm>
            <a:off x="4517136" y="479145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4434840" y="449884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168" name="Text 166"/>
          <p:cNvSpPr/>
          <p:nvPr/>
        </p:nvSpPr>
        <p:spPr>
          <a:xfrm>
            <a:off x="5422392" y="4339742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5340096" y="404713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0" name="Text 168"/>
          <p:cNvSpPr/>
          <p:nvPr/>
        </p:nvSpPr>
        <p:spPr>
          <a:xfrm>
            <a:off x="5422392" y="5243170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5340096" y="4950562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2" name="Text 170"/>
          <p:cNvSpPr/>
          <p:nvPr/>
        </p:nvSpPr>
        <p:spPr>
          <a:xfrm>
            <a:off x="6448349" y="4553712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6366053" y="426110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74" name="Text 172"/>
          <p:cNvSpPr/>
          <p:nvPr/>
        </p:nvSpPr>
        <p:spPr>
          <a:xfrm>
            <a:off x="6448349" y="5171846"/>
            <a:ext cx="292608" cy="292608"/>
          </a:xfrm>
          <a:prstGeom prst="ellipse">
            <a:avLst/>
          </a:prstGeom>
          <a:solidFill>
            <a:srgbClr val="22E6FF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6366053" y="487923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76" name="Text 174"/>
          <p:cNvSpPr/>
          <p:nvPr/>
        </p:nvSpPr>
        <p:spPr>
          <a:xfrm>
            <a:off x="7534656" y="479145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FFB2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00" dirty="0"/>
          </a:p>
        </p:txBody>
      </p:sp>
      <p:sp>
        <p:nvSpPr>
          <p:cNvPr id="177" name="Text 175"/>
          <p:cNvSpPr txBox="1"/>
          <p:nvPr/>
        </p:nvSpPr>
        <p:spPr>
          <a:xfrm>
            <a:off x="7452360" y="449884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178" name="Text 176"/>
          <p:cNvSpPr txBox="1"/>
          <p:nvPr/>
        </p:nvSpPr>
        <p:spPr>
          <a:xfrm>
            <a:off x="4526280" y="5623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 = 13</a:t>
            </a:r>
            <a:endParaRPr lang="en-US" sz="1300" dirty="0"/>
          </a:p>
        </p:txBody>
      </p:sp>
      <p:sp>
        <p:nvSpPr>
          <p:cNvPr id="179" name="Shape 177"/>
          <p:cNvSpPr/>
          <p:nvPr/>
        </p:nvSpPr>
        <p:spPr>
          <a:xfrm>
            <a:off x="8183880" y="36118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0D1733"/>
          </a:solidFill>
          <a:ln w="25400">
            <a:solidFill>
              <a:srgbClr val="22E6FF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836676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SELECT F AT 13</a:t>
            </a:r>
            <a:endParaRPr lang="en-US" sz="1300" dirty="0"/>
          </a:p>
        </p:txBody>
      </p:sp>
      <p:sp>
        <p:nvSpPr>
          <p:cNvPr id="181" name="Shape 179"/>
          <p:cNvSpPr/>
          <p:nvPr/>
        </p:nvSpPr>
        <p:spPr>
          <a:xfrm flipV="1">
            <a:off x="8503920" y="4486046"/>
            <a:ext cx="905256" cy="45171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8819388" y="4620463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3" name="Shape 181"/>
          <p:cNvSpPr/>
          <p:nvPr/>
        </p:nvSpPr>
        <p:spPr>
          <a:xfrm>
            <a:off x="8503920" y="4937760"/>
            <a:ext cx="905256" cy="451714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503920" y="4937760"/>
            <a:ext cx="905256" cy="451714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8819388" y="507217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6" name="Shape 184"/>
          <p:cNvSpPr/>
          <p:nvPr/>
        </p:nvSpPr>
        <p:spPr>
          <a:xfrm>
            <a:off x="9409176" y="4486046"/>
            <a:ext cx="0" cy="903427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409176" y="4486046"/>
            <a:ext cx="0" cy="903427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9272016" y="4710806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9" name="Shape 187"/>
          <p:cNvSpPr/>
          <p:nvPr/>
        </p:nvSpPr>
        <p:spPr>
          <a:xfrm>
            <a:off x="9409176" y="4486046"/>
            <a:ext cx="1025957" cy="213970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409176" y="4486046"/>
            <a:ext cx="1025957" cy="213970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9784994" y="4501591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2" name="Shape 190"/>
          <p:cNvSpPr/>
          <p:nvPr/>
        </p:nvSpPr>
        <p:spPr>
          <a:xfrm flipV="1">
            <a:off x="9409176" y="4700016"/>
            <a:ext cx="1025957" cy="689458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9784994" y="495330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 flipV="1">
            <a:off x="9409176" y="5318150"/>
            <a:ext cx="1025957" cy="71323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9784994" y="5262372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96" name="Shape 194"/>
          <p:cNvSpPr/>
          <p:nvPr/>
        </p:nvSpPr>
        <p:spPr>
          <a:xfrm>
            <a:off x="10435133" y="4700016"/>
            <a:ext cx="0" cy="618134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435133" y="4700016"/>
            <a:ext cx="0" cy="618134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10297973" y="4843467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9" name="Shape 197"/>
          <p:cNvSpPr/>
          <p:nvPr/>
        </p:nvSpPr>
        <p:spPr>
          <a:xfrm>
            <a:off x="10435133" y="4700016"/>
            <a:ext cx="1086307" cy="237744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10841126" y="4727448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01" name="Shape 199"/>
          <p:cNvSpPr/>
          <p:nvPr/>
        </p:nvSpPr>
        <p:spPr>
          <a:xfrm flipV="1">
            <a:off x="10435133" y="4937760"/>
            <a:ext cx="1086307" cy="380390"/>
          </a:xfrm>
          <a:prstGeom prst="line">
            <a:avLst/>
          </a:prstGeom>
          <a:noFill/>
          <a:ln w="127000">
            <a:solidFill>
              <a:srgbClr val="22E6FF">
                <a:alpha val="18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V="1">
            <a:off x="10435133" y="4937760"/>
            <a:ext cx="1086307" cy="380390"/>
          </a:xfrm>
          <a:prstGeom prst="line">
            <a:avLst/>
          </a:prstGeom>
          <a:noFill/>
          <a:ln w="50800">
            <a:solidFill>
              <a:srgbClr val="22E6FF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10841126" y="5036515"/>
            <a:ext cx="274320" cy="18288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4" name="Text 202"/>
          <p:cNvSpPr/>
          <p:nvPr/>
        </p:nvSpPr>
        <p:spPr>
          <a:xfrm>
            <a:off x="8357616" y="479145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205" name="Text 203"/>
          <p:cNvSpPr txBox="1"/>
          <p:nvPr/>
        </p:nvSpPr>
        <p:spPr>
          <a:xfrm>
            <a:off x="8275320" y="449884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06" name="Text 204"/>
          <p:cNvSpPr/>
          <p:nvPr/>
        </p:nvSpPr>
        <p:spPr>
          <a:xfrm>
            <a:off x="9262872" y="4339742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207" name="Text 205"/>
          <p:cNvSpPr txBox="1"/>
          <p:nvPr/>
        </p:nvSpPr>
        <p:spPr>
          <a:xfrm>
            <a:off x="9180576" y="404713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8" name="Text 206"/>
          <p:cNvSpPr/>
          <p:nvPr/>
        </p:nvSpPr>
        <p:spPr>
          <a:xfrm>
            <a:off x="9262872" y="5243170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09" name="Text 207"/>
          <p:cNvSpPr txBox="1"/>
          <p:nvPr/>
        </p:nvSpPr>
        <p:spPr>
          <a:xfrm>
            <a:off x="9180576" y="4950562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0" name="Text 208"/>
          <p:cNvSpPr/>
          <p:nvPr/>
        </p:nvSpPr>
        <p:spPr>
          <a:xfrm>
            <a:off x="10288829" y="4553712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1" name="Text 209"/>
          <p:cNvSpPr txBox="1"/>
          <p:nvPr/>
        </p:nvSpPr>
        <p:spPr>
          <a:xfrm>
            <a:off x="10206533" y="4261104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12" name="Text 210"/>
          <p:cNvSpPr/>
          <p:nvPr/>
        </p:nvSpPr>
        <p:spPr>
          <a:xfrm>
            <a:off x="10288829" y="5171846"/>
            <a:ext cx="292608" cy="29260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213" name="Text 211"/>
          <p:cNvSpPr txBox="1"/>
          <p:nvPr/>
        </p:nvSpPr>
        <p:spPr>
          <a:xfrm>
            <a:off x="10206533" y="487923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14" name="Text 212"/>
          <p:cNvSpPr/>
          <p:nvPr/>
        </p:nvSpPr>
        <p:spPr>
          <a:xfrm>
            <a:off x="11375136" y="4791456"/>
            <a:ext cx="292608" cy="292608"/>
          </a:xfrm>
          <a:prstGeom prst="ellipse">
            <a:avLst/>
          </a:prstGeom>
          <a:solidFill>
            <a:srgbClr val="22E6FF"/>
          </a:solidFill>
          <a:ln w="31750">
            <a:solidFill>
              <a:srgbClr val="FFB2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00" dirty="0"/>
          </a:p>
        </p:txBody>
      </p:sp>
      <p:sp>
        <p:nvSpPr>
          <p:cNvPr id="215" name="Text 213"/>
          <p:cNvSpPr txBox="1"/>
          <p:nvPr/>
        </p:nvSpPr>
        <p:spPr>
          <a:xfrm>
            <a:off x="11292840" y="4498848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216" name="Text 214"/>
          <p:cNvSpPr txBox="1"/>
          <p:nvPr/>
        </p:nvSpPr>
        <p:spPr>
          <a:xfrm>
            <a:off x="8366760" y="5623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reached: dist(F) = 13</a:t>
            </a:r>
            <a:endParaRPr lang="en-US" sz="1300" dirty="0"/>
          </a:p>
        </p:txBody>
      </p:sp>
      <p:sp>
        <p:nvSpPr>
          <p:cNvPr id="217" name="Text 215"/>
          <p:cNvSpPr txBox="1"/>
          <p:nvPr/>
        </p:nvSpPr>
        <p:spPr>
          <a:xfrm>
            <a:off x="548640" y="5989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ROUTE   A → C → B → D → E → F</a:t>
            </a:r>
            <a:endParaRPr lang="en-US" sz="1700" dirty="0"/>
          </a:p>
        </p:txBody>
      </p:sp>
      <p:sp>
        <p:nvSpPr>
          <p:cNvPr id="218" name="Text 216"/>
          <p:cNvSpPr txBox="1"/>
          <p:nvPr/>
        </p:nvSpPr>
        <p:spPr>
          <a:xfrm>
            <a:off x="6309360" y="59893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B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13   |   2 + 1 + 5 + 2 + 3 = 13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visuals. Serious mathematics.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400800" cy="4937760"/>
          </a:xfrm>
          <a:prstGeom prst="roundRect">
            <a:avLst>
              <a:gd name="adj" fmla="val 1481"/>
            </a:avLst>
          </a:prstGeom>
          <a:solidFill>
            <a:srgbClr val="08102A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(G, w, s):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dist[v]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B2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B2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∞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;  pred[v]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B2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NIL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dist[s]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B2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B2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PQ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B2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MIN-HEAP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(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B2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s) 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PQ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(d, u)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B2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EXTRACT-MIN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(PQ)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&gt; dist[u]: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stale entry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edge (u, v)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Adj[u]: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dist[u] + w(u,v) &lt; dist[v]: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dist[v]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B2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dist[u] + w(u,v)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pred[v]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B2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(PQ, (dist[v], v))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dist, pred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69480" y="132588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1490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MIN-HEAP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828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O((V + E) log V)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269480" y="278892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0" y="2953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ARRAY / MATRIX IMPLEMENTATION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291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O(V²)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7269480" y="425196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0" y="4416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ADJACENCY-LIST STORAGE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4754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B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O(V + E)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5760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number of vertices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number of edges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graph on a screen to decisions in the real world.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NAVIGATION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route through a city grid.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1508760"/>
            <a:ext cx="0" cy="1554480"/>
          </a:xfrm>
          <a:prstGeom prst="line">
            <a:avLst/>
          </a:prstGeom>
          <a:noFill/>
          <a:ln w="63500">
            <a:solidFill>
              <a:srgbClr val="3842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77640" y="1508760"/>
            <a:ext cx="0" cy="1554480"/>
          </a:xfrm>
          <a:prstGeom prst="line">
            <a:avLst/>
          </a:prstGeom>
          <a:noFill/>
          <a:ln w="63500">
            <a:solidFill>
              <a:srgbClr val="3842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508760"/>
            <a:ext cx="0" cy="1554480"/>
          </a:xfrm>
          <a:prstGeom prst="line">
            <a:avLst/>
          </a:prstGeom>
          <a:noFill/>
          <a:ln w="63500">
            <a:solidFill>
              <a:srgbClr val="3842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508760"/>
            <a:ext cx="0" cy="1554480"/>
          </a:xfrm>
          <a:prstGeom prst="line">
            <a:avLst/>
          </a:prstGeom>
          <a:noFill/>
          <a:ln w="63500">
            <a:solidFill>
              <a:srgbClr val="3842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1691640"/>
            <a:ext cx="3017520" cy="0"/>
          </a:xfrm>
          <a:prstGeom prst="line">
            <a:avLst/>
          </a:prstGeom>
          <a:noFill/>
          <a:ln w="63500">
            <a:solidFill>
              <a:srgbClr val="3842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286000"/>
            <a:ext cx="3017520" cy="0"/>
          </a:xfrm>
          <a:prstGeom prst="line">
            <a:avLst/>
          </a:prstGeom>
          <a:noFill/>
          <a:ln w="63500">
            <a:solidFill>
              <a:srgbClr val="3842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880360"/>
            <a:ext cx="3017520" cy="0"/>
          </a:xfrm>
          <a:prstGeom prst="line">
            <a:avLst/>
          </a:prstGeom>
          <a:noFill/>
          <a:ln w="63500">
            <a:solidFill>
              <a:srgbClr val="3842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2880360"/>
            <a:ext cx="822960" cy="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2286000"/>
            <a:ext cx="0" cy="59436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7640" y="2286000"/>
            <a:ext cx="914400" cy="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691640"/>
            <a:ext cx="0" cy="59436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1691640"/>
            <a:ext cx="914400" cy="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2880360"/>
            <a:ext cx="822960" cy="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2286000"/>
            <a:ext cx="0" cy="59436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2286000"/>
            <a:ext cx="914400" cy="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691640"/>
            <a:ext cx="0" cy="59436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1691640"/>
            <a:ext cx="914400" cy="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2880360"/>
            <a:ext cx="822960" cy="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2286000"/>
            <a:ext cx="0" cy="59436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2286000"/>
            <a:ext cx="914400" cy="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1691640"/>
            <a:ext cx="0" cy="59436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691640"/>
            <a:ext cx="914400" cy="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63240" y="27889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678424" y="1563624"/>
            <a:ext cx="256032" cy="256032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31" name="Shape 29"/>
          <p:cNvSpPr/>
          <p:nvPr/>
        </p:nvSpPr>
        <p:spPr>
          <a:xfrm>
            <a:off x="6263640" y="132588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9224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TELECOMMUNICATIONS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2468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routed across connected routers.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 flipV="1">
            <a:off x="8778240" y="1783080"/>
            <a:ext cx="822960" cy="54864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78240" y="2331720"/>
            <a:ext cx="822960" cy="54864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0" y="1783080"/>
            <a:ext cx="822960" cy="54864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9601200" y="2331720"/>
            <a:ext cx="822960" cy="54864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01200" y="1783080"/>
            <a:ext cx="1463040" cy="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10424160" y="1783080"/>
            <a:ext cx="640080" cy="54864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24160" y="2331720"/>
            <a:ext cx="640080" cy="54864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064240" y="1783080"/>
            <a:ext cx="548640" cy="54864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11064240" y="2331720"/>
            <a:ext cx="548640" cy="54864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601200" y="2880360"/>
            <a:ext cx="1463040" cy="0"/>
          </a:xfrm>
          <a:prstGeom prst="line">
            <a:avLst/>
          </a:prstGeom>
          <a:noFill/>
          <a:ln w="19050">
            <a:solidFill>
              <a:srgbClr val="3842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8778240" y="1783080"/>
            <a:ext cx="822960" cy="54864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0" y="1783080"/>
            <a:ext cx="822960" cy="54864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24160" y="2331720"/>
            <a:ext cx="640080" cy="54864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11064240" y="2331720"/>
            <a:ext cx="548640" cy="54864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8778240" y="1783080"/>
            <a:ext cx="822960" cy="54864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01200" y="1783080"/>
            <a:ext cx="822960" cy="54864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24160" y="2331720"/>
            <a:ext cx="640080" cy="54864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1064240" y="2331720"/>
            <a:ext cx="548640" cy="54864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778240" y="1783080"/>
            <a:ext cx="822960" cy="54864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01200" y="1783080"/>
            <a:ext cx="822960" cy="54864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24160" y="2331720"/>
            <a:ext cx="640080" cy="54864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1064240" y="2331720"/>
            <a:ext cx="548640" cy="54864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59368" y="2212848"/>
            <a:ext cx="237744" cy="237744"/>
          </a:xfrm>
          <a:prstGeom prst="ellipse">
            <a:avLst/>
          </a:prstGeom>
          <a:solidFill>
            <a:srgbClr val="0D1733"/>
          </a:solidFill>
          <a:ln w="25400">
            <a:solidFill>
              <a:srgbClr val="22E6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82328" y="1664208"/>
            <a:ext cx="237744" cy="237744"/>
          </a:xfrm>
          <a:prstGeom prst="ellipse">
            <a:avLst/>
          </a:prstGeom>
          <a:solidFill>
            <a:srgbClr val="0D1733"/>
          </a:solidFill>
          <a:ln w="25400">
            <a:solidFill>
              <a:srgbClr val="22E6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82328" y="2761488"/>
            <a:ext cx="237744" cy="237744"/>
          </a:xfrm>
          <a:prstGeom prst="ellipse">
            <a:avLst/>
          </a:prstGeom>
          <a:solidFill>
            <a:srgbClr val="0D1733"/>
          </a:solidFill>
          <a:ln w="25400">
            <a:solidFill>
              <a:srgbClr val="22E6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305288" y="2212848"/>
            <a:ext cx="237744" cy="237744"/>
          </a:xfrm>
          <a:prstGeom prst="ellipse">
            <a:avLst/>
          </a:prstGeom>
          <a:solidFill>
            <a:srgbClr val="0D1733"/>
          </a:solidFill>
          <a:ln w="25400">
            <a:solidFill>
              <a:srgbClr val="22E6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945368" y="1664208"/>
            <a:ext cx="237744" cy="237744"/>
          </a:xfrm>
          <a:prstGeom prst="ellipse">
            <a:avLst/>
          </a:prstGeom>
          <a:solidFill>
            <a:srgbClr val="0D1733"/>
          </a:solidFill>
          <a:ln w="25400">
            <a:solidFill>
              <a:srgbClr val="22E6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45368" y="2761488"/>
            <a:ext cx="237744" cy="237744"/>
          </a:xfrm>
          <a:prstGeom prst="ellipse">
            <a:avLst/>
          </a:prstGeom>
          <a:solidFill>
            <a:srgbClr val="0D1733"/>
          </a:solidFill>
          <a:ln w="25400">
            <a:solidFill>
              <a:srgbClr val="22E6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94008" y="2212848"/>
            <a:ext cx="237744" cy="237744"/>
          </a:xfrm>
          <a:prstGeom prst="ellipse">
            <a:avLst/>
          </a:prstGeom>
          <a:solidFill>
            <a:srgbClr val="0D1733"/>
          </a:solidFill>
          <a:ln w="25400">
            <a:solidFill>
              <a:srgbClr val="22E6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" y="34290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7724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66" name="Text 64"/>
          <p:cNvSpPr txBox="1"/>
          <p:nvPr/>
        </p:nvSpPr>
        <p:spPr>
          <a:xfrm>
            <a:off x="77724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777240" y="4572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vehicles from a distribution hub.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 flipV="1">
            <a:off x="3246120" y="3794760"/>
            <a:ext cx="2468880" cy="59436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5605272" y="3685032"/>
            <a:ext cx="219456" cy="219456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70" name="Shape 68"/>
          <p:cNvSpPr/>
          <p:nvPr/>
        </p:nvSpPr>
        <p:spPr>
          <a:xfrm>
            <a:off x="3246120" y="4389120"/>
            <a:ext cx="265176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5788152" y="4279392"/>
            <a:ext cx="219456" cy="219456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72" name="Shape 70"/>
          <p:cNvSpPr/>
          <p:nvPr/>
        </p:nvSpPr>
        <p:spPr>
          <a:xfrm>
            <a:off x="3246120" y="4389120"/>
            <a:ext cx="2468880" cy="59436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5605272" y="4873752"/>
            <a:ext cx="219456" cy="219456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74" name="Shape 72"/>
          <p:cNvSpPr/>
          <p:nvPr/>
        </p:nvSpPr>
        <p:spPr>
          <a:xfrm flipV="1">
            <a:off x="3246120" y="3886200"/>
            <a:ext cx="1463040" cy="50292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4599432" y="3776472"/>
            <a:ext cx="219456" cy="219456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76" name="Shape 74"/>
          <p:cNvSpPr/>
          <p:nvPr/>
        </p:nvSpPr>
        <p:spPr>
          <a:xfrm>
            <a:off x="3063240" y="4206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E6FF"/>
          </a:solidFill>
          <a:ln/>
        </p:spPr>
      </p:sp>
      <p:sp>
        <p:nvSpPr>
          <p:cNvPr id="77" name="Shape 75"/>
          <p:cNvSpPr/>
          <p:nvPr/>
        </p:nvSpPr>
        <p:spPr>
          <a:xfrm>
            <a:off x="3822192" y="4023360"/>
            <a:ext cx="310896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4370832" y="4297680"/>
            <a:ext cx="310896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</p:sp>
      <p:sp>
        <p:nvSpPr>
          <p:cNvPr id="79" name="Shape 77"/>
          <p:cNvSpPr/>
          <p:nvPr/>
        </p:nvSpPr>
        <p:spPr>
          <a:xfrm>
            <a:off x="4279392" y="4572000"/>
            <a:ext cx="310896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6263640" y="34290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49224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82" name="Text 80"/>
          <p:cNvSpPr txBox="1"/>
          <p:nvPr/>
        </p:nvSpPr>
        <p:spPr>
          <a:xfrm>
            <a:off x="649224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6492240" y="4572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planning a path on a mapped floor.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778240" y="361188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778240" y="4142232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778240" y="4672584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91472" y="361188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91472" y="4142232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491472" y="4672584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204704" y="361188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204704" y="4142232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204704" y="4672584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917936" y="361188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917936" y="4142232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917936" y="4672584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11B38"/>
          </a:solidFill>
          <a:ln w="9525">
            <a:solidFill>
              <a:srgbClr val="3842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91472" y="361188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38425C"/>
          </a:solidFill>
          <a:ln/>
        </p:spPr>
      </p:sp>
      <p:sp>
        <p:nvSpPr>
          <p:cNvPr id="97" name="Shape 95"/>
          <p:cNvSpPr/>
          <p:nvPr/>
        </p:nvSpPr>
        <p:spPr>
          <a:xfrm>
            <a:off x="9491472" y="4142232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38425C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04704" y="4672584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38425C"/>
          </a:solidFill>
          <a:ln/>
        </p:spPr>
      </p:sp>
      <p:sp>
        <p:nvSpPr>
          <p:cNvPr id="99" name="Shape 97"/>
          <p:cNvSpPr/>
          <p:nvPr/>
        </p:nvSpPr>
        <p:spPr>
          <a:xfrm>
            <a:off x="9098280" y="3858768"/>
            <a:ext cx="0" cy="1033272"/>
          </a:xfrm>
          <a:prstGeom prst="line">
            <a:avLst/>
          </a:prstGeom>
          <a:noFill/>
          <a:ln w="31750">
            <a:solidFill>
              <a:srgbClr val="22E6FF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9098280" y="4892040"/>
            <a:ext cx="1051560" cy="0"/>
          </a:xfrm>
          <a:prstGeom prst="line">
            <a:avLst/>
          </a:prstGeom>
          <a:noFill/>
          <a:ln w="31750">
            <a:solidFill>
              <a:srgbClr val="22E6FF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 flipV="1">
            <a:off x="10149840" y="4389120"/>
            <a:ext cx="731520" cy="502920"/>
          </a:xfrm>
          <a:prstGeom prst="line">
            <a:avLst/>
          </a:prstGeom>
          <a:noFill/>
          <a:ln w="31750">
            <a:solidFill>
              <a:srgbClr val="22E6FF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10881360" y="4389120"/>
            <a:ext cx="548640" cy="0"/>
          </a:xfrm>
          <a:prstGeom prst="line">
            <a:avLst/>
          </a:prstGeom>
          <a:noFill/>
          <a:ln w="31750">
            <a:solidFill>
              <a:srgbClr val="22E6FF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8942832" y="3703320"/>
            <a:ext cx="310896" cy="310896"/>
          </a:xfrm>
          <a:prstGeom prst="ellipse">
            <a:avLst/>
          </a:prstGeom>
          <a:solidFill>
            <a:srgbClr val="22E6F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1301984" y="4261104"/>
            <a:ext cx="256032" cy="256032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989320" y="2286000"/>
            <a:ext cx="91440" cy="0"/>
          </a:xfrm>
          <a:prstGeom prst="line">
            <a:avLst/>
          </a:prstGeom>
          <a:noFill/>
          <a:ln w="25400">
            <a:solidFill>
              <a:srgbClr val="22E6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989320" y="4389120"/>
            <a:ext cx="91440" cy="0"/>
          </a:xfrm>
          <a:prstGeom prst="line">
            <a:avLst/>
          </a:prstGeom>
          <a:noFill/>
          <a:ln w="25400">
            <a:solidFill>
              <a:srgbClr val="22E6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961888" y="3218688"/>
            <a:ext cx="146304" cy="146304"/>
          </a:xfrm>
          <a:prstGeom prst="ellipse">
            <a:avLst/>
          </a:prstGeom>
          <a:solidFill>
            <a:srgbClr val="22E6F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035040" y="2286000"/>
            <a:ext cx="0" cy="2103120"/>
          </a:xfrm>
          <a:prstGeom prst="line">
            <a:avLst/>
          </a:prstGeom>
          <a:noFill/>
          <a:ln w="12700">
            <a:solidFill>
              <a:srgbClr val="22E6FF">
                <a:alpha val="6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577840" y="3291840"/>
            <a:ext cx="914400" cy="0"/>
          </a:xfrm>
          <a:prstGeom prst="line">
            <a:avLst/>
          </a:prstGeom>
          <a:noFill/>
          <a:ln w="12700">
            <a:solidFill>
              <a:srgbClr val="22E6FF">
                <a:alpha val="60000"/>
              </a:srgbClr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48640" y="566928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real-world navigation systems may combine routing algorithms with traffic information, road restrictions, heuristics and additional optimization techniques. This educational example does not claim to reproduce the exact algorithm used by a commercial navigation service.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algorithm has a boundary.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035040" cy="2331720"/>
          </a:xfrm>
          <a:prstGeom prst="roundRect">
            <a:avLst>
              <a:gd name="adj" fmla="val 3137"/>
            </a:avLst>
          </a:prstGeom>
          <a:solidFill>
            <a:srgbClr val="0D1733"/>
          </a:solidFill>
          <a:ln w="15240">
            <a:solidFill>
              <a:srgbClr val="22E6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35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WEIGHTED GRAPH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flipV="1">
            <a:off x="1234437" y="2041321"/>
            <a:ext cx="2067958" cy="590845"/>
          </a:xfrm>
          <a:prstGeom prst="line">
            <a:avLst/>
          </a:prstGeom>
          <a:noFill/>
          <a:ln w="25400">
            <a:solidFill>
              <a:srgbClr val="38425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239882" y="2739273"/>
            <a:ext cx="2056230" cy="367184"/>
          </a:xfrm>
          <a:prstGeom prst="line">
            <a:avLst/>
          </a:prstGeom>
          <a:noFill/>
          <a:ln w="25400">
            <a:solidFill>
              <a:srgbClr val="38425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66160" y="2240280"/>
            <a:ext cx="0" cy="676656"/>
          </a:xfrm>
          <a:prstGeom prst="line">
            <a:avLst/>
          </a:prstGeom>
          <a:noFill/>
          <a:ln w="38100">
            <a:solidFill>
              <a:srgbClr val="22E6FF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057400" y="2194560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788920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423160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459736"/>
            <a:ext cx="475488" cy="47548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28416" y="1728216"/>
            <a:ext cx="475488" cy="47548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28416" y="2916936"/>
            <a:ext cx="475488" cy="47548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dist(B) = 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weights: the finalized distance is correct.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6035040" cy="2331720"/>
          </a:xfrm>
          <a:prstGeom prst="roundRect">
            <a:avLst>
              <a:gd name="adj" fmla="val 3137"/>
            </a:avLst>
          </a:prstGeom>
          <a:solidFill>
            <a:srgbClr val="0D1733"/>
          </a:solidFill>
          <a:ln w="15240">
            <a:solidFill>
              <a:srgbClr val="FF5C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502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 NEGATIVE EDGE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1234437" y="4555921"/>
            <a:ext cx="2067958" cy="590845"/>
          </a:xfrm>
          <a:prstGeom prst="line">
            <a:avLst/>
          </a:prstGeom>
          <a:noFill/>
          <a:ln w="25400">
            <a:solidFill>
              <a:srgbClr val="38425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39882" y="5253873"/>
            <a:ext cx="2056230" cy="367184"/>
          </a:xfrm>
          <a:prstGeom prst="line">
            <a:avLst/>
          </a:prstGeom>
          <a:noFill/>
          <a:ln w="25400">
            <a:solidFill>
              <a:srgbClr val="3842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66160" y="4754880"/>
            <a:ext cx="0" cy="676656"/>
          </a:xfrm>
          <a:prstGeom prst="line">
            <a:avLst/>
          </a:prstGeom>
          <a:noFill/>
          <a:ln w="38100">
            <a:solidFill>
              <a:srgbClr val="FF5C7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057400" y="4709160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5303520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4937760"/>
            <a:ext cx="457200" cy="274320"/>
          </a:xfrm>
          <a:prstGeom prst="rect">
            <a:avLst/>
          </a:prstGeom>
          <a:solidFill>
            <a:srgbClr val="0D1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" y="4974336"/>
            <a:ext cx="475488" cy="47548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22E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28416" y="4242816"/>
            <a:ext cx="475488" cy="47548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28416" y="5431536"/>
            <a:ext cx="475488" cy="475488"/>
          </a:xfrm>
          <a:prstGeom prst="ellipse">
            <a:avLst/>
          </a:prstGeom>
          <a:solidFill>
            <a:srgbClr val="0D1733"/>
          </a:solidFill>
          <a:ln w="31750">
            <a:solidFill>
              <a:srgbClr val="9AA7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dist(B) = 2 ✗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4983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shortest path A → C → B costs 3 + (−2) = 1, but B was already finalized.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03720" y="1325880"/>
            <a:ext cx="4754880" cy="1554480"/>
          </a:xfrm>
          <a:prstGeom prst="roundRect">
            <a:avLst>
              <a:gd name="adj" fmla="val 4706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1508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is appropriate for non-negative edge weights.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03720" y="3017520"/>
            <a:ext cx="4754880" cy="1554480"/>
          </a:xfrm>
          <a:prstGeom prst="roundRect">
            <a:avLst>
              <a:gd name="adj" fmla="val 4706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0" y="3200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7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3200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Negative-weight edges require a different approach, such as Bellman–Ford in applicable settings.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903720" y="4709160"/>
            <a:ext cx="4754880" cy="1554480"/>
          </a:xfrm>
          <a:prstGeom prst="roundRect">
            <a:avLst>
              <a:gd name="adj" fmla="val 4706"/>
            </a:avLst>
          </a:prstGeom>
          <a:solidFill>
            <a:srgbClr val="0D1733"/>
          </a:solidFill>
          <a:ln w="12700">
            <a:solidFill>
              <a:srgbClr val="3842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0" y="4892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B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4892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navigation networks may benefit from specialized data structures, heuristics or preprocessing.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1" y="92790"/>
            <a:ext cx="5043547" cy="3334688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87409" y="131898"/>
            <a:ext cx="3957619" cy="3512819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33767" y="1821253"/>
            <a:ext cx="6658836" cy="4425449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385" y="2908372"/>
            <a:ext cx="4497449" cy="2331092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91692" y="647608"/>
            <a:ext cx="6651565" cy="3302917"/>
          </a:xfrm>
          <a:prstGeom prst="ellipse">
            <a:avLst/>
          </a:prstGeom>
          <a:noFill/>
          <a:ln w="9525">
            <a:solidFill>
              <a:srgbClr val="8B5CF6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0"/>
            <a:ext cx="140147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50876"/>
            <a:ext cx="12161520" cy="811363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0"/>
            <a:ext cx="63728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0" y="57715"/>
            <a:ext cx="12161520" cy="274212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502138" y="0"/>
            <a:ext cx="52342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0" y="0"/>
            <a:ext cx="12161520" cy="512978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575318" y="0"/>
            <a:ext cx="527802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0" y="0"/>
            <a:ext cx="12161520" cy="694030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0"/>
            <a:ext cx="93249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0" y="0"/>
            <a:ext cx="12161520" cy="875081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0"/>
            <a:ext cx="599909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056132"/>
            <a:ext cx="12161520" cy="83818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113192" y="0"/>
            <a:ext cx="635848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0" y="117090"/>
            <a:ext cx="12161520" cy="1120093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0"/>
            <a:ext cx="589628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418234"/>
            <a:ext cx="12161520" cy="135479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0"/>
            <a:ext cx="69522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0" y="1317946"/>
            <a:ext cx="12161520" cy="281339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0"/>
            <a:ext cx="403058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0" y="1513669"/>
            <a:ext cx="12161520" cy="266668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0"/>
            <a:ext cx="249486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961388"/>
            <a:ext cx="12161520" cy="270635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0"/>
            <a:ext cx="166223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0" y="1668371"/>
            <a:ext cx="12161520" cy="474068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0"/>
            <a:ext cx="665126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23490"/>
            <a:ext cx="12161520" cy="471214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0"/>
            <a:ext cx="37854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0" y="2088299"/>
            <a:ext cx="12161520" cy="416242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7825887" y="0"/>
            <a:ext cx="312273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0" y="1416759"/>
            <a:ext cx="12161520" cy="1268833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0"/>
            <a:ext cx="177457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866644"/>
            <a:ext cx="12161520" cy="1338217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9192663" y="0"/>
            <a:ext cx="42777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0" y="2561757"/>
            <a:ext cx="12161520" cy="485938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9459140" y="0"/>
            <a:ext cx="324940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28746"/>
            <a:ext cx="12161520" cy="904339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9907387" y="0"/>
            <a:ext cx="425333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409798"/>
            <a:ext cx="12161520" cy="400767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81360" y="0"/>
            <a:ext cx="564806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0" y="3297270"/>
            <a:ext cx="12161520" cy="293579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30000" y="0"/>
            <a:ext cx="421110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3771900"/>
            <a:ext cx="12161520" cy="285366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978640" y="0"/>
            <a:ext cx="182880" cy="6858000"/>
          </a:xfrm>
          <a:prstGeom prst="line">
            <a:avLst/>
          </a:prstGeom>
          <a:noFill/>
          <a:ln w="762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0" y="3507888"/>
            <a:ext cx="12161520" cy="445063"/>
          </a:xfrm>
          <a:prstGeom prst="line">
            <a:avLst/>
          </a:prstGeom>
          <a:noFill/>
          <a:ln w="7620">
            <a:solidFill>
              <a:srgbClr val="22E6FF">
                <a:alpha val="1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29775" y="1369211"/>
            <a:ext cx="571836" cy="944446"/>
          </a:xfrm>
          <a:prstGeom prst="line">
            <a:avLst/>
          </a:prstGeom>
          <a:noFill/>
          <a:ln w="41221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29775" y="1369211"/>
            <a:ext cx="1595648" cy="448579"/>
          </a:xfrm>
          <a:prstGeom prst="line">
            <a:avLst/>
          </a:prstGeom>
          <a:noFill/>
          <a:ln w="41221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25424" y="1817790"/>
            <a:ext cx="692129" cy="766426"/>
          </a:xfrm>
          <a:prstGeom prst="line">
            <a:avLst/>
          </a:prstGeom>
          <a:noFill/>
          <a:ln w="41221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29775" y="1369211"/>
            <a:ext cx="571836" cy="944446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29775" y="1369211"/>
            <a:ext cx="1595648" cy="448579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25424" y="1817790"/>
            <a:ext cx="692129" cy="766426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5329" y="1178964"/>
            <a:ext cx="1223366" cy="325844"/>
          </a:xfrm>
          <a:prstGeom prst="line">
            <a:avLst/>
          </a:prstGeom>
          <a:noFill/>
          <a:ln w="5418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944816" y="1504808"/>
            <a:ext cx="473878" cy="33897"/>
          </a:xfrm>
          <a:prstGeom prst="line">
            <a:avLst/>
          </a:prstGeom>
          <a:noFill/>
          <a:ln w="5418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944816" y="486683"/>
            <a:ext cx="1327221" cy="1052022"/>
          </a:xfrm>
          <a:prstGeom prst="line">
            <a:avLst/>
          </a:prstGeom>
          <a:noFill/>
          <a:ln w="5418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5329" y="1178964"/>
            <a:ext cx="1223366" cy="325844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944816" y="1504808"/>
            <a:ext cx="473878" cy="33897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944816" y="486683"/>
            <a:ext cx="1327221" cy="1052022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4004602" y="5294422"/>
            <a:ext cx="2143257" cy="46866"/>
          </a:xfrm>
          <a:prstGeom prst="line">
            <a:avLst/>
          </a:prstGeom>
          <a:noFill/>
          <a:ln w="4098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47858" y="5294422"/>
            <a:ext cx="2026378" cy="421712"/>
          </a:xfrm>
          <a:prstGeom prst="line">
            <a:avLst/>
          </a:prstGeom>
          <a:noFill/>
          <a:ln w="4098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8174236" y="5572484"/>
            <a:ext cx="2200375" cy="143650"/>
          </a:xfrm>
          <a:prstGeom prst="line">
            <a:avLst/>
          </a:prstGeom>
          <a:noFill/>
          <a:ln w="4098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4004602" y="5294422"/>
            <a:ext cx="2143257" cy="46866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47858" y="5294422"/>
            <a:ext cx="2026378" cy="421712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8174236" y="5572484"/>
            <a:ext cx="2200375" cy="14365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8188" y="469503"/>
            <a:ext cx="1617147" cy="218570"/>
          </a:xfrm>
          <a:prstGeom prst="line">
            <a:avLst/>
          </a:prstGeom>
          <a:noFill/>
          <a:ln w="45824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2115335" y="637456"/>
            <a:ext cx="504306" cy="50617"/>
          </a:xfrm>
          <a:prstGeom prst="line">
            <a:avLst/>
          </a:prstGeom>
          <a:noFill/>
          <a:ln w="45824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2619641" y="182880"/>
            <a:ext cx="175205" cy="454576"/>
          </a:xfrm>
          <a:prstGeom prst="line">
            <a:avLst/>
          </a:prstGeom>
          <a:noFill/>
          <a:ln w="45824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8188" y="469503"/>
            <a:ext cx="1617147" cy="218570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2115335" y="637456"/>
            <a:ext cx="504306" cy="50617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2619641" y="182880"/>
            <a:ext cx="175205" cy="454576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3928168" y="3967160"/>
            <a:ext cx="978953" cy="910886"/>
          </a:xfrm>
          <a:prstGeom prst="line">
            <a:avLst/>
          </a:prstGeom>
          <a:noFill/>
          <a:ln w="39176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4907121" y="3162627"/>
            <a:ext cx="753885" cy="804533"/>
          </a:xfrm>
          <a:prstGeom prst="line">
            <a:avLst/>
          </a:prstGeom>
          <a:noFill/>
          <a:ln w="39176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661006" y="3162627"/>
            <a:ext cx="497124" cy="594900"/>
          </a:xfrm>
          <a:prstGeom prst="line">
            <a:avLst/>
          </a:prstGeom>
          <a:noFill/>
          <a:ln w="39176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3928168" y="3967160"/>
            <a:ext cx="978953" cy="910886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4907121" y="3162627"/>
            <a:ext cx="753885" cy="804533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61006" y="3162627"/>
            <a:ext cx="497124" cy="59490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4817124" y="6229883"/>
            <a:ext cx="285697" cy="353797"/>
          </a:xfrm>
          <a:prstGeom prst="line">
            <a:avLst/>
          </a:prstGeom>
          <a:noFill/>
          <a:ln w="54439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4817124" y="6290006"/>
            <a:ext cx="598353" cy="293674"/>
          </a:xfrm>
          <a:prstGeom prst="line">
            <a:avLst/>
          </a:prstGeom>
          <a:noFill/>
          <a:ln w="54439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15478" y="6290006"/>
            <a:ext cx="214142" cy="293674"/>
          </a:xfrm>
          <a:prstGeom prst="line">
            <a:avLst/>
          </a:prstGeom>
          <a:noFill/>
          <a:ln w="54439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4817124" y="6229883"/>
            <a:ext cx="285697" cy="353797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4817124" y="6290006"/>
            <a:ext cx="598353" cy="293674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15478" y="6290006"/>
            <a:ext cx="214142" cy="293674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46505" y="5977988"/>
            <a:ext cx="663194" cy="421704"/>
          </a:xfrm>
          <a:prstGeom prst="line">
            <a:avLst/>
          </a:prstGeom>
          <a:noFill/>
          <a:ln w="46270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3407183" y="5977988"/>
            <a:ext cx="739322" cy="65711"/>
          </a:xfrm>
          <a:prstGeom prst="line">
            <a:avLst/>
          </a:prstGeom>
          <a:noFill/>
          <a:ln w="46270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3407183" y="5645594"/>
            <a:ext cx="1018222" cy="398105"/>
          </a:xfrm>
          <a:prstGeom prst="line">
            <a:avLst/>
          </a:prstGeom>
          <a:noFill/>
          <a:ln w="46270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46505" y="5977988"/>
            <a:ext cx="663194" cy="421704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3407183" y="5977988"/>
            <a:ext cx="739322" cy="65711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3407183" y="5645594"/>
            <a:ext cx="1018222" cy="398105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5683345" y="801201"/>
            <a:ext cx="10911" cy="226805"/>
          </a:xfrm>
          <a:prstGeom prst="line">
            <a:avLst/>
          </a:prstGeom>
          <a:noFill/>
          <a:ln w="55059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5694257" y="704518"/>
            <a:ext cx="2231798" cy="96683"/>
          </a:xfrm>
          <a:prstGeom prst="line">
            <a:avLst/>
          </a:prstGeom>
          <a:noFill/>
          <a:ln w="55059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926055" y="704518"/>
            <a:ext cx="1187230" cy="854365"/>
          </a:xfrm>
          <a:prstGeom prst="line">
            <a:avLst/>
          </a:prstGeom>
          <a:noFill/>
          <a:ln w="55059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5683345" y="801201"/>
            <a:ext cx="10911" cy="226805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5694257" y="704518"/>
            <a:ext cx="2231798" cy="96683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26055" y="704518"/>
            <a:ext cx="1187230" cy="854365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5421043" y="2398850"/>
            <a:ext cx="657018" cy="118323"/>
          </a:xfrm>
          <a:prstGeom prst="line">
            <a:avLst/>
          </a:prstGeom>
          <a:noFill/>
          <a:ln w="4739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078061" y="2398850"/>
            <a:ext cx="872103" cy="1084485"/>
          </a:xfrm>
          <a:prstGeom prst="line">
            <a:avLst/>
          </a:prstGeom>
          <a:noFill/>
          <a:ln w="4739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6950164" y="3271848"/>
            <a:ext cx="1572552" cy="211487"/>
          </a:xfrm>
          <a:prstGeom prst="line">
            <a:avLst/>
          </a:prstGeom>
          <a:noFill/>
          <a:ln w="4739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5421043" y="2398850"/>
            <a:ext cx="657018" cy="118323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078061" y="2398850"/>
            <a:ext cx="872103" cy="1084485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6950164" y="3271848"/>
            <a:ext cx="1572552" cy="211487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407049" y="1676080"/>
            <a:ext cx="2216820" cy="683302"/>
          </a:xfrm>
          <a:prstGeom prst="line">
            <a:avLst/>
          </a:prstGeom>
          <a:noFill/>
          <a:ln w="4684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6418514" y="2359382"/>
            <a:ext cx="205355" cy="394797"/>
          </a:xfrm>
          <a:prstGeom prst="line">
            <a:avLst/>
          </a:prstGeom>
          <a:noFill/>
          <a:ln w="4684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5795039" y="2754179"/>
            <a:ext cx="623476" cy="911448"/>
          </a:xfrm>
          <a:prstGeom prst="line">
            <a:avLst/>
          </a:prstGeom>
          <a:noFill/>
          <a:ln w="46848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407049" y="1676080"/>
            <a:ext cx="2216820" cy="683302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6418514" y="2359382"/>
            <a:ext cx="205355" cy="394797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5795039" y="2754179"/>
            <a:ext cx="623476" cy="911448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760845" y="3028798"/>
            <a:ext cx="1966261" cy="1094619"/>
          </a:xfrm>
          <a:prstGeom prst="line">
            <a:avLst/>
          </a:prstGeom>
          <a:noFill/>
          <a:ln w="5598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719369" y="4056390"/>
            <a:ext cx="7737" cy="67028"/>
          </a:xfrm>
          <a:prstGeom prst="line">
            <a:avLst/>
          </a:prstGeom>
          <a:noFill/>
          <a:ln w="5598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719369" y="4056390"/>
            <a:ext cx="1281314" cy="1046831"/>
          </a:xfrm>
          <a:prstGeom prst="line">
            <a:avLst/>
          </a:prstGeom>
          <a:noFill/>
          <a:ln w="5598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760845" y="3028798"/>
            <a:ext cx="1966261" cy="1094619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719369" y="4056390"/>
            <a:ext cx="7737" cy="67028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719369" y="4056390"/>
            <a:ext cx="1281314" cy="1046831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3981" y="4177349"/>
            <a:ext cx="1403345" cy="707381"/>
          </a:xfrm>
          <a:prstGeom prst="line">
            <a:avLst/>
          </a:prstGeom>
          <a:noFill/>
          <a:ln w="41146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8700061" y="4884730"/>
            <a:ext cx="107265" cy="667960"/>
          </a:xfrm>
          <a:prstGeom prst="line">
            <a:avLst/>
          </a:prstGeom>
          <a:noFill/>
          <a:ln w="41146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8700061" y="4449320"/>
            <a:ext cx="439094" cy="1103369"/>
          </a:xfrm>
          <a:prstGeom prst="line">
            <a:avLst/>
          </a:prstGeom>
          <a:noFill/>
          <a:ln w="41146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03981" y="4177349"/>
            <a:ext cx="1403345" cy="707381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8700061" y="4884730"/>
            <a:ext cx="107265" cy="667960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700061" y="4449320"/>
            <a:ext cx="439094" cy="1103369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1316665" y="4454007"/>
            <a:ext cx="1070412" cy="222205"/>
          </a:xfrm>
          <a:prstGeom prst="line">
            <a:avLst/>
          </a:prstGeom>
          <a:noFill/>
          <a:ln w="3274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2387077" y="3556787"/>
            <a:ext cx="1665230" cy="897220"/>
          </a:xfrm>
          <a:prstGeom prst="line">
            <a:avLst/>
          </a:prstGeom>
          <a:noFill/>
          <a:ln w="3274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132265" y="3492934"/>
            <a:ext cx="920042" cy="63854"/>
          </a:xfrm>
          <a:prstGeom prst="line">
            <a:avLst/>
          </a:prstGeom>
          <a:noFill/>
          <a:ln w="32742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1316665" y="4454007"/>
            <a:ext cx="1070412" cy="222205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2387077" y="3556787"/>
            <a:ext cx="1665230" cy="897220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132265" y="3492934"/>
            <a:ext cx="920042" cy="63854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420984" y="3877128"/>
            <a:ext cx="411287" cy="1115246"/>
          </a:xfrm>
          <a:prstGeom prst="line">
            <a:avLst/>
          </a:prstGeom>
          <a:noFill/>
          <a:ln w="52064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832271" y="4992374"/>
            <a:ext cx="2082541" cy="298608"/>
          </a:xfrm>
          <a:prstGeom prst="line">
            <a:avLst/>
          </a:prstGeom>
          <a:noFill/>
          <a:ln w="52064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914812" y="5290982"/>
            <a:ext cx="1936893" cy="578103"/>
          </a:xfrm>
          <a:prstGeom prst="line">
            <a:avLst/>
          </a:prstGeom>
          <a:noFill/>
          <a:ln w="52064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420984" y="3877128"/>
            <a:ext cx="411287" cy="1115246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32271" y="4992374"/>
            <a:ext cx="2082541" cy="298608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914812" y="5290982"/>
            <a:ext cx="1936893" cy="578103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206547" y="4077214"/>
            <a:ext cx="1629183" cy="694748"/>
          </a:xfrm>
          <a:prstGeom prst="line">
            <a:avLst/>
          </a:prstGeom>
          <a:noFill/>
          <a:ln w="3440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835730" y="4771962"/>
            <a:ext cx="270118" cy="300917"/>
          </a:xfrm>
          <a:prstGeom prst="line">
            <a:avLst/>
          </a:prstGeom>
          <a:noFill/>
          <a:ln w="3440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105848" y="5072879"/>
            <a:ext cx="872792" cy="121135"/>
          </a:xfrm>
          <a:prstGeom prst="line">
            <a:avLst/>
          </a:prstGeom>
          <a:noFill/>
          <a:ln w="34407">
            <a:solidFill>
              <a:srgbClr val="8B5CF6">
                <a:alpha val="3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206547" y="4077214"/>
            <a:ext cx="1629183" cy="694748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835730" y="4771962"/>
            <a:ext cx="270118" cy="300917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1105848" y="5072879"/>
            <a:ext cx="872792" cy="121135"/>
          </a:xfrm>
          <a:prstGeom prst="line">
            <a:avLst/>
          </a:prstGeom>
          <a:noFill/>
          <a:ln w="1016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V="1">
            <a:off x="10144458" y="5418668"/>
            <a:ext cx="477650" cy="467136"/>
          </a:xfrm>
          <a:prstGeom prst="line">
            <a:avLst/>
          </a:prstGeom>
          <a:noFill/>
          <a:ln w="52883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144458" y="5885804"/>
            <a:ext cx="1834182" cy="181057"/>
          </a:xfrm>
          <a:prstGeom prst="line">
            <a:avLst/>
          </a:prstGeom>
          <a:noFill/>
          <a:ln w="52883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978640" y="5748631"/>
            <a:ext cx="0" cy="318229"/>
          </a:xfrm>
          <a:prstGeom prst="line">
            <a:avLst/>
          </a:prstGeom>
          <a:noFill/>
          <a:ln w="52883">
            <a:solidFill>
              <a:srgbClr val="22E6FF">
                <a:alpha val="2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10144458" y="5418668"/>
            <a:ext cx="477650" cy="467136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144458" y="5885804"/>
            <a:ext cx="1834182" cy="181057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978640" y="5748631"/>
            <a:ext cx="0" cy="318229"/>
          </a:xfrm>
          <a:prstGeom prst="line">
            <a:avLst/>
          </a:prstGeom>
          <a:noFill/>
          <a:ln w="10160">
            <a:solidFill>
              <a:srgbClr val="22E6FF">
                <a:alpha val="7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546891" y="3509145"/>
            <a:ext cx="54864" cy="54864"/>
          </a:xfrm>
          <a:prstGeom prst="ellipse">
            <a:avLst/>
          </a:prstGeom>
          <a:solidFill>
            <a:srgbClr val="FFFFFF">
              <a:alpha val="39421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1915990" y="790572"/>
            <a:ext cx="54864" cy="54864"/>
          </a:xfrm>
          <a:prstGeom prst="ellipse">
            <a:avLst/>
          </a:prstGeom>
          <a:solidFill>
            <a:srgbClr val="FFFFFF">
              <a:alpha val="18632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11958954" y="3083654"/>
            <a:ext cx="54864" cy="54864"/>
          </a:xfrm>
          <a:prstGeom prst="ellipse">
            <a:avLst/>
          </a:prstGeom>
          <a:solidFill>
            <a:srgbClr val="FFFFFF">
              <a:alpha val="33337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2993901" y="374946"/>
            <a:ext cx="54864" cy="54864"/>
          </a:xfrm>
          <a:prstGeom prst="ellipse">
            <a:avLst/>
          </a:prstGeom>
          <a:solidFill>
            <a:srgbClr val="FFFFFF">
              <a:alpha val="32435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4543697" y="478100"/>
            <a:ext cx="54864" cy="54864"/>
          </a:xfrm>
          <a:prstGeom prst="ellipse">
            <a:avLst/>
          </a:prstGeom>
          <a:solidFill>
            <a:srgbClr val="FFFFFF">
              <a:alpha val="23743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6001079" y="2738152"/>
            <a:ext cx="54864" cy="54864"/>
          </a:xfrm>
          <a:prstGeom prst="ellipse">
            <a:avLst/>
          </a:prstGeom>
          <a:solidFill>
            <a:srgbClr val="FFFFFF">
              <a:alpha val="40172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4276982" y="4622073"/>
            <a:ext cx="54864" cy="54864"/>
          </a:xfrm>
          <a:prstGeom prst="ellipse">
            <a:avLst/>
          </a:prstGeom>
          <a:solidFill>
            <a:srgbClr val="FFFFFF">
              <a:alpha val="2641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969310" y="6166010"/>
            <a:ext cx="54864" cy="54864"/>
          </a:xfrm>
          <a:prstGeom prst="ellipse">
            <a:avLst/>
          </a:prstGeom>
          <a:solidFill>
            <a:srgbClr val="FFFFFF">
              <a:alpha val="31183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6138098" y="1335928"/>
            <a:ext cx="54864" cy="54864"/>
          </a:xfrm>
          <a:prstGeom prst="ellipse">
            <a:avLst/>
          </a:prstGeom>
          <a:solidFill>
            <a:srgbClr val="FFFFFF">
              <a:alpha val="3568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9089552" y="6449760"/>
            <a:ext cx="54864" cy="54864"/>
          </a:xfrm>
          <a:prstGeom prst="ellipse">
            <a:avLst/>
          </a:prstGeom>
          <a:solidFill>
            <a:srgbClr val="FFFFFF">
              <a:alpha val="39658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3133064" y="5637312"/>
            <a:ext cx="54864" cy="54864"/>
          </a:xfrm>
          <a:prstGeom prst="ellipse">
            <a:avLst/>
          </a:prstGeom>
          <a:solidFill>
            <a:srgbClr val="FFFFFF">
              <a:alpha val="39016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1344791" y="5069351"/>
            <a:ext cx="54864" cy="54864"/>
          </a:xfrm>
          <a:prstGeom prst="ellipse">
            <a:avLst/>
          </a:prstGeom>
          <a:solidFill>
            <a:srgbClr val="FFFFFF">
              <a:alpha val="27882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4784129" y="5825209"/>
            <a:ext cx="54864" cy="54864"/>
          </a:xfrm>
          <a:prstGeom prst="ellipse">
            <a:avLst/>
          </a:prstGeom>
          <a:solidFill>
            <a:srgbClr val="FFFFFF">
              <a:alpha val="10813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6404750" y="3364172"/>
            <a:ext cx="54864" cy="54864"/>
          </a:xfrm>
          <a:prstGeom prst="ellipse">
            <a:avLst/>
          </a:prstGeom>
          <a:solidFill>
            <a:srgbClr val="FFFFFF">
              <a:alpha val="42958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137759" y="109368"/>
            <a:ext cx="54864" cy="54864"/>
          </a:xfrm>
          <a:prstGeom prst="ellipse">
            <a:avLst/>
          </a:prstGeom>
          <a:solidFill>
            <a:srgbClr val="FFFFFF">
              <a:alpha val="18516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8768093" y="2280537"/>
            <a:ext cx="54864" cy="54864"/>
          </a:xfrm>
          <a:prstGeom prst="ellipse">
            <a:avLst/>
          </a:prstGeom>
          <a:solidFill>
            <a:srgbClr val="FFFFFF">
              <a:alpha val="25694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8389848" y="4390628"/>
            <a:ext cx="54864" cy="54864"/>
          </a:xfrm>
          <a:prstGeom prst="ellipse">
            <a:avLst/>
          </a:prstGeom>
          <a:solidFill>
            <a:srgbClr val="FFFFFF">
              <a:alpha val="21159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2841110" y="2037547"/>
            <a:ext cx="54864" cy="54864"/>
          </a:xfrm>
          <a:prstGeom prst="ellipse">
            <a:avLst/>
          </a:prstGeom>
          <a:solidFill>
            <a:srgbClr val="FFFFFF">
              <a:alpha val="47589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2080275" y="5926904"/>
            <a:ext cx="54864" cy="54864"/>
          </a:xfrm>
          <a:prstGeom prst="ellipse">
            <a:avLst/>
          </a:prstGeom>
          <a:solidFill>
            <a:srgbClr val="FFFFFF">
              <a:alpha val="27116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5768044" y="6188331"/>
            <a:ext cx="54864" cy="54864"/>
          </a:xfrm>
          <a:prstGeom prst="ellipse">
            <a:avLst/>
          </a:prstGeom>
          <a:solidFill>
            <a:srgbClr val="FFFFFF">
              <a:alpha val="13537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10405925" y="6352991"/>
            <a:ext cx="54864" cy="54864"/>
          </a:xfrm>
          <a:prstGeom prst="ellipse">
            <a:avLst/>
          </a:prstGeom>
          <a:solidFill>
            <a:srgbClr val="FFFFFF">
              <a:alpha val="14013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9550616" y="6513345"/>
            <a:ext cx="54864" cy="54864"/>
          </a:xfrm>
          <a:prstGeom prst="ellipse">
            <a:avLst/>
          </a:prstGeom>
          <a:solidFill>
            <a:srgbClr val="FFFFFF">
              <a:alpha val="42322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11075672" y="3577831"/>
            <a:ext cx="54864" cy="54864"/>
          </a:xfrm>
          <a:prstGeom prst="ellipse">
            <a:avLst/>
          </a:prstGeom>
          <a:solidFill>
            <a:srgbClr val="FFFFFF">
              <a:alpha val="15283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321389" y="4821321"/>
            <a:ext cx="54864" cy="54864"/>
          </a:xfrm>
          <a:prstGeom prst="ellipse">
            <a:avLst/>
          </a:prstGeom>
          <a:solidFill>
            <a:srgbClr val="FFFFFF">
              <a:alpha val="30417"/>
            </a:srgbClr>
          </a:solidFill>
          <a:ln/>
        </p:spPr>
      </p:sp>
      <p:sp>
        <p:nvSpPr>
          <p:cNvPr id="171" name="Shape 169"/>
          <p:cNvSpPr/>
          <p:nvPr/>
        </p:nvSpPr>
        <p:spPr>
          <a:xfrm>
            <a:off x="5539915" y="1733722"/>
            <a:ext cx="54864" cy="54864"/>
          </a:xfrm>
          <a:prstGeom prst="ellipse">
            <a:avLst/>
          </a:prstGeom>
          <a:solidFill>
            <a:srgbClr val="FFFFFF">
              <a:alpha val="33522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7388707" y="4122145"/>
            <a:ext cx="54864" cy="54864"/>
          </a:xfrm>
          <a:prstGeom prst="ellipse">
            <a:avLst/>
          </a:prstGeom>
          <a:solidFill>
            <a:srgbClr val="FFFFFF">
              <a:alpha val="15852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1643834" y="1036981"/>
            <a:ext cx="54864" cy="54864"/>
          </a:xfrm>
          <a:prstGeom prst="ellipse">
            <a:avLst/>
          </a:prstGeom>
          <a:solidFill>
            <a:srgbClr val="FFFFFF">
              <a:alpha val="17071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796333" y="325502"/>
            <a:ext cx="54864" cy="54864"/>
          </a:xfrm>
          <a:prstGeom prst="ellipse">
            <a:avLst/>
          </a:prstGeom>
          <a:solidFill>
            <a:srgbClr val="FFFFFF">
              <a:alpha val="24887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8693817" y="6163152"/>
            <a:ext cx="54864" cy="54864"/>
          </a:xfrm>
          <a:prstGeom prst="ellipse">
            <a:avLst/>
          </a:prstGeom>
          <a:solidFill>
            <a:srgbClr val="FFFFFF">
              <a:alpha val="35089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4048147" y="286840"/>
            <a:ext cx="54864" cy="54864"/>
          </a:xfrm>
          <a:prstGeom prst="ellipse">
            <a:avLst/>
          </a:prstGeom>
          <a:solidFill>
            <a:srgbClr val="FFFFFF">
              <a:alpha val="26060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71157" y="1865213"/>
            <a:ext cx="54864" cy="54864"/>
          </a:xfrm>
          <a:prstGeom prst="ellipse">
            <a:avLst/>
          </a:prstGeom>
          <a:solidFill>
            <a:srgbClr val="FFFFFF">
              <a:alpha val="49457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3806381" y="2672255"/>
            <a:ext cx="54864" cy="54864"/>
          </a:xfrm>
          <a:prstGeom prst="ellipse">
            <a:avLst/>
          </a:prstGeom>
          <a:solidFill>
            <a:srgbClr val="FFFFFF">
              <a:alpha val="27244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3571084" y="5108270"/>
            <a:ext cx="54864" cy="54864"/>
          </a:xfrm>
          <a:prstGeom prst="ellipse">
            <a:avLst/>
          </a:prstGeom>
          <a:solidFill>
            <a:srgbClr val="FFFFFF">
              <a:alpha val="41153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3978522" y="623458"/>
            <a:ext cx="54864" cy="54864"/>
          </a:xfrm>
          <a:prstGeom prst="ellipse">
            <a:avLst/>
          </a:prstGeom>
          <a:solidFill>
            <a:srgbClr val="FFFFFF">
              <a:alpha val="21958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6479869" y="654877"/>
            <a:ext cx="54864" cy="54864"/>
          </a:xfrm>
          <a:prstGeom prst="ellipse">
            <a:avLst/>
          </a:prstGeom>
          <a:solidFill>
            <a:srgbClr val="FFFFFF">
              <a:alpha val="20402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6294212" y="3912918"/>
            <a:ext cx="54864" cy="54864"/>
          </a:xfrm>
          <a:prstGeom prst="ellipse">
            <a:avLst/>
          </a:prstGeom>
          <a:solidFill>
            <a:srgbClr val="FFFFFF">
              <a:alpha val="43250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3473386" y="4836488"/>
            <a:ext cx="54864" cy="54864"/>
          </a:xfrm>
          <a:prstGeom prst="ellipse">
            <a:avLst/>
          </a:prstGeom>
          <a:solidFill>
            <a:srgbClr val="FFFFFF">
              <a:alpha val="43501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9449886" y="4743747"/>
            <a:ext cx="54864" cy="54864"/>
          </a:xfrm>
          <a:prstGeom prst="ellipse">
            <a:avLst/>
          </a:prstGeom>
          <a:solidFill>
            <a:srgbClr val="FFFFFF">
              <a:alpha val="17711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12005496" y="1787148"/>
            <a:ext cx="54864" cy="54864"/>
          </a:xfrm>
          <a:prstGeom prst="ellipse">
            <a:avLst/>
          </a:prstGeom>
          <a:solidFill>
            <a:srgbClr val="FFFFFF">
              <a:alpha val="45494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1862865" y="967211"/>
            <a:ext cx="54864" cy="54864"/>
          </a:xfrm>
          <a:prstGeom prst="ellipse">
            <a:avLst/>
          </a:prstGeom>
          <a:solidFill>
            <a:srgbClr val="FFFFFF">
              <a:alpha val="28930"/>
            </a:srgb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11027826" y="6126749"/>
            <a:ext cx="54864" cy="54864"/>
          </a:xfrm>
          <a:prstGeom prst="ellipse">
            <a:avLst/>
          </a:prstGeom>
          <a:solidFill>
            <a:srgbClr val="FFFFFF">
              <a:alpha val="11865"/>
            </a:srgb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6191126" y="239204"/>
            <a:ext cx="54864" cy="54864"/>
          </a:xfrm>
          <a:prstGeom prst="ellipse">
            <a:avLst/>
          </a:prstGeom>
          <a:solidFill>
            <a:srgbClr val="FFFFFF">
              <a:alpha val="38883"/>
            </a:srgb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11386194" y="6198602"/>
            <a:ext cx="54864" cy="54864"/>
          </a:xfrm>
          <a:prstGeom prst="ellipse">
            <a:avLst/>
          </a:prstGeom>
          <a:solidFill>
            <a:srgbClr val="FFFFFF">
              <a:alpha val="33050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9629281" y="3383362"/>
            <a:ext cx="54864" cy="54864"/>
          </a:xfrm>
          <a:prstGeom prst="ellipse">
            <a:avLst/>
          </a:prstGeom>
          <a:solidFill>
            <a:srgbClr val="FFFFFF">
              <a:alpha val="16392"/>
            </a:srgb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5416602" y="3717515"/>
            <a:ext cx="54864" cy="54864"/>
          </a:xfrm>
          <a:prstGeom prst="ellipse">
            <a:avLst/>
          </a:prstGeom>
          <a:solidFill>
            <a:srgbClr val="FFFFFF">
              <a:alpha val="17179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9121596" y="3881338"/>
            <a:ext cx="54864" cy="54864"/>
          </a:xfrm>
          <a:prstGeom prst="ellipse">
            <a:avLst/>
          </a:prstGeom>
          <a:solidFill>
            <a:srgbClr val="FFFFFF">
              <a:alpha val="20827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7166804" y="4193222"/>
            <a:ext cx="54864" cy="54864"/>
          </a:xfrm>
          <a:prstGeom prst="ellipse">
            <a:avLst/>
          </a:prstGeom>
          <a:solidFill>
            <a:srgbClr val="FFFFFF">
              <a:alpha val="34165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7093746" y="6024189"/>
            <a:ext cx="54864" cy="54864"/>
          </a:xfrm>
          <a:prstGeom prst="ellipse">
            <a:avLst/>
          </a:prstGeom>
          <a:solidFill>
            <a:srgbClr val="FFFFFF">
              <a:alpha val="41553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2895420" y="6263528"/>
            <a:ext cx="54864" cy="54864"/>
          </a:xfrm>
          <a:prstGeom prst="ellipse">
            <a:avLst/>
          </a:prstGeom>
          <a:solidFill>
            <a:srgbClr val="FFFFFF">
              <a:alpha val="22418"/>
            </a:srgb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5513452" y="2762172"/>
            <a:ext cx="54864" cy="54864"/>
          </a:xfrm>
          <a:prstGeom prst="ellipse">
            <a:avLst/>
          </a:prstGeom>
          <a:solidFill>
            <a:srgbClr val="FFFFFF">
              <a:alpha val="13688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5516765" y="138873"/>
            <a:ext cx="54864" cy="54864"/>
          </a:xfrm>
          <a:prstGeom prst="ellipse">
            <a:avLst/>
          </a:prstGeom>
          <a:solidFill>
            <a:srgbClr val="FFFFFF">
              <a:alpha val="47100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4123023" y="2048710"/>
            <a:ext cx="54864" cy="54864"/>
          </a:xfrm>
          <a:prstGeom prst="ellipse">
            <a:avLst/>
          </a:prstGeom>
          <a:solidFill>
            <a:srgbClr val="FFFFFF">
              <a:alpha val="18459"/>
            </a:srgb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6745595" y="720256"/>
            <a:ext cx="54864" cy="54864"/>
          </a:xfrm>
          <a:prstGeom prst="ellipse">
            <a:avLst/>
          </a:prstGeom>
          <a:solidFill>
            <a:srgbClr val="FFFFFF">
              <a:alpha val="44716"/>
            </a:srgb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3738355" y="4539065"/>
            <a:ext cx="54864" cy="54864"/>
          </a:xfrm>
          <a:prstGeom prst="ellipse">
            <a:avLst/>
          </a:prstGeom>
          <a:solidFill>
            <a:srgbClr val="FFFFFF">
              <a:alpha val="33543"/>
            </a:srgb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11590555" y="3235990"/>
            <a:ext cx="54864" cy="54864"/>
          </a:xfrm>
          <a:prstGeom prst="ellipse">
            <a:avLst/>
          </a:prstGeom>
          <a:solidFill>
            <a:srgbClr val="FFFFFF">
              <a:alpha val="18267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6103265" y="4690383"/>
            <a:ext cx="54864" cy="54864"/>
          </a:xfrm>
          <a:prstGeom prst="ellipse">
            <a:avLst/>
          </a:prstGeom>
          <a:solidFill>
            <a:srgbClr val="FFFFFF">
              <a:alpha val="39606"/>
            </a:srgb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3352250" y="261394"/>
            <a:ext cx="54864" cy="54864"/>
          </a:xfrm>
          <a:prstGeom prst="ellipse">
            <a:avLst/>
          </a:prstGeom>
          <a:solidFill>
            <a:srgbClr val="FFFFFF">
              <a:alpha val="34173"/>
            </a:srgb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3464830" y="5421406"/>
            <a:ext cx="54864" cy="54864"/>
          </a:xfrm>
          <a:prstGeom prst="ellipse">
            <a:avLst/>
          </a:prstGeom>
          <a:solidFill>
            <a:srgbClr val="FFFFFF">
              <a:alpha val="49975"/>
            </a:srgbClr>
          </a:solidFill>
          <a:ln/>
        </p:spPr>
      </p:sp>
      <p:sp>
        <p:nvSpPr>
          <p:cNvPr id="205" name="Shape 203"/>
          <p:cNvSpPr/>
          <p:nvPr/>
        </p:nvSpPr>
        <p:spPr>
          <a:xfrm>
            <a:off x="5147857" y="2265371"/>
            <a:ext cx="54864" cy="54864"/>
          </a:xfrm>
          <a:prstGeom prst="ellipse">
            <a:avLst/>
          </a:prstGeom>
          <a:solidFill>
            <a:srgbClr val="FFFFFF">
              <a:alpha val="12515"/>
            </a:srgbClr>
          </a:solidFill>
          <a:ln/>
        </p:spPr>
      </p:sp>
      <p:sp>
        <p:nvSpPr>
          <p:cNvPr id="206" name="Shape 204"/>
          <p:cNvSpPr/>
          <p:nvPr/>
        </p:nvSpPr>
        <p:spPr>
          <a:xfrm>
            <a:off x="1153508" y="2685246"/>
            <a:ext cx="54864" cy="54864"/>
          </a:xfrm>
          <a:prstGeom prst="ellipse">
            <a:avLst/>
          </a:prstGeom>
          <a:solidFill>
            <a:srgbClr val="FFFFFF">
              <a:alpha val="16476"/>
            </a:srgbClr>
          </a:solidFill>
          <a:ln/>
        </p:spPr>
      </p:sp>
      <p:sp>
        <p:nvSpPr>
          <p:cNvPr id="207" name="Shape 205"/>
          <p:cNvSpPr/>
          <p:nvPr/>
        </p:nvSpPr>
        <p:spPr>
          <a:xfrm>
            <a:off x="9035560" y="5222926"/>
            <a:ext cx="54864" cy="54864"/>
          </a:xfrm>
          <a:prstGeom prst="ellipse">
            <a:avLst/>
          </a:prstGeom>
          <a:solidFill>
            <a:srgbClr val="FFFFFF">
              <a:alpha val="49647"/>
            </a:srgbClr>
          </a:solidFill>
          <a:ln/>
        </p:spPr>
      </p:sp>
      <p:sp>
        <p:nvSpPr>
          <p:cNvPr id="208" name="Shape 206"/>
          <p:cNvSpPr/>
          <p:nvPr/>
        </p:nvSpPr>
        <p:spPr>
          <a:xfrm>
            <a:off x="2068180" y="228280"/>
            <a:ext cx="54864" cy="54864"/>
          </a:xfrm>
          <a:prstGeom prst="ellipse">
            <a:avLst/>
          </a:prstGeom>
          <a:solidFill>
            <a:srgbClr val="FFFFFF">
              <a:alpha val="44166"/>
            </a:srgbClr>
          </a:solidFill>
          <a:ln/>
        </p:spPr>
      </p:sp>
      <p:sp>
        <p:nvSpPr>
          <p:cNvPr id="209" name="Shape 207"/>
          <p:cNvSpPr/>
          <p:nvPr/>
        </p:nvSpPr>
        <p:spPr>
          <a:xfrm>
            <a:off x="5405379" y="6231661"/>
            <a:ext cx="54864" cy="54864"/>
          </a:xfrm>
          <a:prstGeom prst="ellipse">
            <a:avLst/>
          </a:prstGeom>
          <a:solidFill>
            <a:srgbClr val="FFFFFF">
              <a:alpha val="28498"/>
            </a:srgbClr>
          </a:solidFill>
          <a:ln/>
        </p:spPr>
      </p:sp>
      <p:sp>
        <p:nvSpPr>
          <p:cNvPr id="210" name="Shape 208"/>
          <p:cNvSpPr/>
          <p:nvPr/>
        </p:nvSpPr>
        <p:spPr>
          <a:xfrm>
            <a:off x="6158754" y="6494330"/>
            <a:ext cx="54864" cy="54864"/>
          </a:xfrm>
          <a:prstGeom prst="ellipse">
            <a:avLst/>
          </a:prstGeom>
          <a:solidFill>
            <a:srgbClr val="FFFFFF">
              <a:alpha val="11440"/>
            </a:srgbClr>
          </a:solidFill>
          <a:ln/>
        </p:spPr>
      </p:sp>
      <p:sp>
        <p:nvSpPr>
          <p:cNvPr id="211" name="Shape 209"/>
          <p:cNvSpPr/>
          <p:nvPr/>
        </p:nvSpPr>
        <p:spPr>
          <a:xfrm>
            <a:off x="10506090" y="2799715"/>
            <a:ext cx="54864" cy="54864"/>
          </a:xfrm>
          <a:prstGeom prst="ellipse">
            <a:avLst/>
          </a:prstGeom>
          <a:solidFill>
            <a:srgbClr val="FFFFFF">
              <a:alpha val="43671"/>
            </a:srgbClr>
          </a:solidFill>
          <a:ln/>
        </p:spPr>
      </p:sp>
      <p:sp>
        <p:nvSpPr>
          <p:cNvPr id="212" name="Shape 210"/>
          <p:cNvSpPr/>
          <p:nvPr/>
        </p:nvSpPr>
        <p:spPr>
          <a:xfrm>
            <a:off x="3766876" y="2606178"/>
            <a:ext cx="54864" cy="54864"/>
          </a:xfrm>
          <a:prstGeom prst="ellipse">
            <a:avLst/>
          </a:prstGeom>
          <a:solidFill>
            <a:srgbClr val="FFFFFF">
              <a:alpha val="32134"/>
            </a:srgbClr>
          </a:solidFill>
          <a:ln/>
        </p:spPr>
      </p:sp>
      <p:sp>
        <p:nvSpPr>
          <p:cNvPr id="213" name="Shape 211"/>
          <p:cNvSpPr/>
          <p:nvPr/>
        </p:nvSpPr>
        <p:spPr>
          <a:xfrm>
            <a:off x="9223558" y="3720720"/>
            <a:ext cx="54864" cy="54864"/>
          </a:xfrm>
          <a:prstGeom prst="ellipse">
            <a:avLst/>
          </a:prstGeom>
          <a:solidFill>
            <a:srgbClr val="FFFFFF">
              <a:alpha val="18786"/>
            </a:srgbClr>
          </a:solidFill>
          <a:ln/>
        </p:spPr>
      </p:sp>
      <p:sp>
        <p:nvSpPr>
          <p:cNvPr id="214" name="Shape 212"/>
          <p:cNvSpPr/>
          <p:nvPr/>
        </p:nvSpPr>
        <p:spPr>
          <a:xfrm>
            <a:off x="1588578" y="1427331"/>
            <a:ext cx="54864" cy="54864"/>
          </a:xfrm>
          <a:prstGeom prst="ellipse">
            <a:avLst/>
          </a:prstGeom>
          <a:solidFill>
            <a:srgbClr val="FFFFFF">
              <a:alpha val="34506"/>
            </a:srgbClr>
          </a:solidFill>
          <a:ln/>
        </p:spPr>
      </p:sp>
      <p:sp>
        <p:nvSpPr>
          <p:cNvPr id="215" name="Shape 213"/>
          <p:cNvSpPr/>
          <p:nvPr/>
        </p:nvSpPr>
        <p:spPr>
          <a:xfrm>
            <a:off x="11826371" y="5691986"/>
            <a:ext cx="54864" cy="54864"/>
          </a:xfrm>
          <a:prstGeom prst="ellipse">
            <a:avLst/>
          </a:prstGeom>
          <a:solidFill>
            <a:srgbClr val="FFFFFF">
              <a:alpha val="46970"/>
            </a:srgbClr>
          </a:solidFill>
          <a:ln/>
        </p:spPr>
      </p:sp>
      <p:sp>
        <p:nvSpPr>
          <p:cNvPr id="216" name="Shape 214"/>
          <p:cNvSpPr/>
          <p:nvPr/>
        </p:nvSpPr>
        <p:spPr>
          <a:xfrm>
            <a:off x="3248535" y="4198975"/>
            <a:ext cx="54864" cy="54864"/>
          </a:xfrm>
          <a:prstGeom prst="ellipse">
            <a:avLst/>
          </a:prstGeom>
          <a:solidFill>
            <a:srgbClr val="FFFFFF">
              <a:alpha val="22548"/>
            </a:srgbClr>
          </a:solidFill>
          <a:ln/>
        </p:spPr>
      </p:sp>
      <p:sp>
        <p:nvSpPr>
          <p:cNvPr id="217" name="Shape 215"/>
          <p:cNvSpPr/>
          <p:nvPr/>
        </p:nvSpPr>
        <p:spPr>
          <a:xfrm flipV="1">
            <a:off x="5120640" y="4572000"/>
            <a:ext cx="1280160" cy="109728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400800" y="4572000"/>
            <a:ext cx="1645920" cy="18288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flipV="1">
            <a:off x="8046720" y="3291840"/>
            <a:ext cx="1280160" cy="146304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flipV="1">
            <a:off x="9326880" y="3017520"/>
            <a:ext cx="1463040" cy="27432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flipV="1">
            <a:off x="10789920" y="1828800"/>
            <a:ext cx="548640" cy="1188720"/>
          </a:xfrm>
          <a:prstGeom prst="line">
            <a:avLst/>
          </a:prstGeom>
          <a:noFill/>
          <a:ln w="127000">
            <a:solidFill>
              <a:srgbClr val="22E6FF">
                <a:alpha val="14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flipV="1">
            <a:off x="5120640" y="4572000"/>
            <a:ext cx="1280160" cy="109728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400800" y="4572000"/>
            <a:ext cx="1645920" cy="18288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flipV="1">
            <a:off x="8046720" y="3291840"/>
            <a:ext cx="1280160" cy="146304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flipV="1">
            <a:off x="9326880" y="3017520"/>
            <a:ext cx="1463040" cy="27432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flipV="1">
            <a:off x="10789920" y="1828800"/>
            <a:ext cx="548640" cy="1188720"/>
          </a:xfrm>
          <a:prstGeom prst="line">
            <a:avLst/>
          </a:prstGeom>
          <a:noFill/>
          <a:ln w="50800">
            <a:solidFill>
              <a:srgbClr val="22E6FF">
                <a:alpha val="4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flipV="1">
            <a:off x="5120640" y="4572000"/>
            <a:ext cx="1280160" cy="109728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400800" y="4572000"/>
            <a:ext cx="1645920" cy="18288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flipV="1">
            <a:off x="8046720" y="3291840"/>
            <a:ext cx="1280160" cy="146304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flipV="1">
            <a:off x="9326880" y="3017520"/>
            <a:ext cx="1463040" cy="27432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flipV="1">
            <a:off x="10789920" y="1828800"/>
            <a:ext cx="548640" cy="1188720"/>
          </a:xfrm>
          <a:prstGeom prst="line">
            <a:avLst/>
          </a:prstGeom>
          <a:noFill/>
          <a:ln w="22860">
            <a:solidFill>
              <a:srgbClr val="22E6F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698480" y="1188720"/>
            <a:ext cx="1280160" cy="1280160"/>
          </a:xfrm>
          <a:prstGeom prst="ellipse">
            <a:avLst/>
          </a:prstGeom>
          <a:solidFill>
            <a:srgbClr val="FFB224">
              <a:alpha val="18000"/>
            </a:srgbClr>
          </a:solidFill>
          <a:ln/>
        </p:spPr>
      </p:sp>
      <p:sp>
        <p:nvSpPr>
          <p:cNvPr id="233" name="Shape 231"/>
          <p:cNvSpPr/>
          <p:nvPr/>
        </p:nvSpPr>
        <p:spPr>
          <a:xfrm>
            <a:off x="10927080" y="1417320"/>
            <a:ext cx="822960" cy="822960"/>
          </a:xfrm>
          <a:prstGeom prst="ellipse">
            <a:avLst/>
          </a:prstGeom>
          <a:solidFill>
            <a:srgbClr val="FFB224">
              <a:alpha val="38000"/>
            </a:srgbClr>
          </a:solidFill>
          <a:ln/>
        </p:spPr>
      </p:sp>
      <p:sp>
        <p:nvSpPr>
          <p:cNvPr id="234" name="Shape 232"/>
          <p:cNvSpPr/>
          <p:nvPr/>
        </p:nvSpPr>
        <p:spPr>
          <a:xfrm>
            <a:off x="11109960" y="1600200"/>
            <a:ext cx="457200" cy="457200"/>
          </a:xfrm>
          <a:prstGeom prst="ellipse">
            <a:avLst/>
          </a:prstGeom>
          <a:solidFill>
            <a:srgbClr val="FFB224">
              <a:alpha val="58000"/>
            </a:srgbClr>
          </a:solidFill>
          <a:ln/>
        </p:spPr>
      </p:sp>
      <p:sp>
        <p:nvSpPr>
          <p:cNvPr id="235" name="Shape 233"/>
          <p:cNvSpPr/>
          <p:nvPr/>
        </p:nvSpPr>
        <p:spPr>
          <a:xfrm>
            <a:off x="11247120" y="1737360"/>
            <a:ext cx="182880" cy="182880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236" name="Shape 234"/>
          <p:cNvSpPr/>
          <p:nvPr/>
        </p:nvSpPr>
        <p:spPr>
          <a:xfrm>
            <a:off x="0" y="0"/>
            <a:ext cx="8229600" cy="6858000"/>
          </a:xfrm>
          <a:prstGeom prst="rect">
            <a:avLst/>
          </a:prstGeom>
          <a:solidFill>
            <a:srgbClr val="050B1A">
              <a:alpha val="85000"/>
            </a:srgbClr>
          </a:solidFill>
          <a:ln/>
        </p:spPr>
      </p:sp>
      <p:sp>
        <p:nvSpPr>
          <p:cNvPr id="237" name="Shape 235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50B1A">
              <a:alpha val="71000"/>
            </a:srgbClr>
          </a:solidFill>
          <a:ln/>
        </p:spPr>
      </p:sp>
      <p:sp>
        <p:nvSpPr>
          <p:cNvPr id="238" name="Shape 236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50B1A">
              <a:alpha val="57000"/>
            </a:srgbClr>
          </a:solidFill>
          <a:ln/>
        </p:spPr>
      </p:sp>
      <p:sp>
        <p:nvSpPr>
          <p:cNvPr id="239" name="Shape 237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50B1A">
              <a:alpha val="43000"/>
            </a:srgbClr>
          </a:solidFill>
          <a:ln/>
        </p:spPr>
      </p:sp>
      <p:sp>
        <p:nvSpPr>
          <p:cNvPr id="240" name="Shape 238"/>
          <p:cNvSpPr/>
          <p:nvPr/>
        </p:nvSpPr>
        <p:spPr>
          <a:xfrm>
            <a:off x="0" y="0"/>
            <a:ext cx="1645920" cy="6858000"/>
          </a:xfrm>
          <a:prstGeom prst="rect">
            <a:avLst/>
          </a:prstGeom>
          <a:solidFill>
            <a:srgbClr val="050B1A">
              <a:alpha val="29000"/>
            </a:srgbClr>
          </a:solidFill>
          <a:ln/>
        </p:spPr>
      </p:sp>
      <p:sp>
        <p:nvSpPr>
          <p:cNvPr id="241" name="Text 239"/>
          <p:cNvSpPr txBox="1"/>
          <p:nvPr/>
        </p:nvSpPr>
        <p:spPr>
          <a:xfrm>
            <a:off x="640080" y="5029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shows the way.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 calculates the path.</a:t>
            </a:r>
            <a:endParaRPr lang="en-US" sz="3400" dirty="0"/>
          </a:p>
        </p:txBody>
      </p:sp>
      <p:sp>
        <p:nvSpPr>
          <p:cNvPr id="242" name="Text 240"/>
          <p:cNvSpPr txBox="1"/>
          <p:nvPr/>
        </p:nvSpPr>
        <p:spPr>
          <a:xfrm>
            <a:off x="64008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243" name="Text 241"/>
          <p:cNvSpPr txBox="1"/>
          <p:nvPr/>
        </p:nvSpPr>
        <p:spPr>
          <a:xfrm>
            <a:off x="13716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world as a graph.</a:t>
            </a:r>
            <a:endParaRPr lang="en-US" sz="2000" dirty="0"/>
          </a:p>
        </p:txBody>
      </p:sp>
      <p:sp>
        <p:nvSpPr>
          <p:cNvPr id="244" name="Text 242"/>
          <p:cNvSpPr txBox="1"/>
          <p:nvPr/>
        </p:nvSpPr>
        <p:spPr>
          <a:xfrm>
            <a:off x="64008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45" name="Text 243"/>
          <p:cNvSpPr txBox="1"/>
          <p:nvPr/>
        </p:nvSpPr>
        <p:spPr>
          <a:xfrm>
            <a:off x="137160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 path cost.</a:t>
            </a:r>
            <a:endParaRPr lang="en-US" sz="2000" dirty="0"/>
          </a:p>
        </p:txBody>
      </p:sp>
      <p:sp>
        <p:nvSpPr>
          <p:cNvPr id="246" name="Text 244"/>
          <p:cNvSpPr txBox="1"/>
          <p:nvPr/>
        </p:nvSpPr>
        <p:spPr>
          <a:xfrm>
            <a:off x="640080" y="3520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47" name="Text 245"/>
          <p:cNvSpPr txBox="1"/>
          <p:nvPr/>
        </p:nvSpPr>
        <p:spPr>
          <a:xfrm>
            <a:off x="137160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efficient data structures.</a:t>
            </a:r>
            <a:endParaRPr lang="en-US" sz="2000" dirty="0"/>
          </a:p>
        </p:txBody>
      </p:sp>
      <p:sp>
        <p:nvSpPr>
          <p:cNvPr id="248" name="Text 246"/>
          <p:cNvSpPr txBox="1"/>
          <p:nvPr/>
        </p:nvSpPr>
        <p:spPr>
          <a:xfrm>
            <a:off x="640080" y="4114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49" name="Text 247"/>
          <p:cNvSpPr txBox="1"/>
          <p:nvPr/>
        </p:nvSpPr>
        <p:spPr>
          <a:xfrm>
            <a:off x="137160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algorithm's assumptions.</a:t>
            </a:r>
            <a:endParaRPr lang="en-US" sz="2000" dirty="0"/>
          </a:p>
        </p:txBody>
      </p:sp>
      <p:sp>
        <p:nvSpPr>
          <p:cNvPr id="250" name="Text 248"/>
          <p:cNvSpPr txBox="1"/>
          <p:nvPr/>
        </p:nvSpPr>
        <p:spPr>
          <a:xfrm>
            <a:off x="640080" y="489204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E. W. Dijkstra, "A note on two problems in connexion with graphs," Numerische Mathematik, 1959.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Cormen, Leiserson, Rivest and Stein, Introduction to Algorithms.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MIT OpenCourseWare, Introduction to Algorithms: https://ocw.mit.edu/</a:t>
            </a:r>
            <a:endParaRPr lang="en-US" sz="1100" dirty="0"/>
          </a:p>
        </p:txBody>
      </p:sp>
      <p:sp>
        <p:nvSpPr>
          <p:cNvPr id="251" name="Text 249"/>
          <p:cNvSpPr txBox="1"/>
          <p:nvPr/>
        </p:nvSpPr>
        <p:spPr>
          <a:xfrm>
            <a:off x="640080" y="6080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Shirbhate  |  PRN 25070521240  |  Division D2  |  [Institute name]  |  Generated using Claude (Anthropic)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Map - Dijkstra</dc:title>
  <dc:subject>PptxGenJS Presentation</dc:subject>
  <dc:creator>Shreyansh Shirbhate</dc:creator>
  <cp:lastModifiedBy>Shreyansh Shirbhate</cp:lastModifiedBy>
  <cp:revision>1</cp:revision>
  <dcterms:created xsi:type="dcterms:W3CDTF">2026-10-20T17:53:25Z</dcterms:created>
  <dcterms:modified xsi:type="dcterms:W3CDTF">2026-10-20T17:53:25Z</dcterms:modified>
</cp:coreProperties>
</file>